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1"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52911D4-2BDC-4270-955D-098F59077DC9}">
  <a:tblStyle styleId="{D52911D4-2BDC-4270-955D-098F59077DC9}" styleName="Table_0"/>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5472" autoAdjust="0"/>
  </p:normalViewPr>
  <p:slideViewPr>
    <p:cSldViewPr snapToGrid="0">
      <p:cViewPr varScale="1">
        <p:scale>
          <a:sx n="136" d="100"/>
          <a:sy n="136" d="100"/>
        </p:scale>
        <p:origin x="251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Shape 3"/>
          <p:cNvSpPr>
            <a:spLocks noGrp="1" noRot="1" noChangeAspect="1"/>
          </p:cNvSpPr>
          <p:nvPr>
            <p:ph type="sldImg" idx="2"/>
          </p:nvPr>
        </p:nvSpPr>
        <p:spPr>
          <a:xfrm>
            <a:off x="1143225" y="685800"/>
            <a:ext cx="4572225"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4" name="Shape 4"/>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100" b="0" i="0" u="none" strike="noStrike" cap="none">
                <a:solidFill>
                  <a:schemeClr val="dk1"/>
                </a:solidFill>
                <a:latin typeface="Arial"/>
                <a:ea typeface="Arial"/>
                <a:cs typeface="Arial"/>
                <a:sym typeface="Arial"/>
              </a:defRPr>
            </a:lvl2pPr>
            <a:lvl3pPr marL="914400" marR="0" lvl="2" indent="0" algn="l" rtl="0">
              <a:spcBef>
                <a:spcPts val="0"/>
              </a:spcBef>
              <a:buNone/>
              <a:defRPr sz="1100" b="0" i="0" u="none" strike="noStrike" cap="none">
                <a:solidFill>
                  <a:schemeClr val="dk1"/>
                </a:solidFill>
                <a:latin typeface="Arial"/>
                <a:ea typeface="Arial"/>
                <a:cs typeface="Arial"/>
                <a:sym typeface="Arial"/>
              </a:defRPr>
            </a:lvl3pPr>
            <a:lvl4pPr marL="1371600" marR="0" lvl="3" indent="0" algn="l" rtl="0">
              <a:spcBef>
                <a:spcPts val="0"/>
              </a:spcBef>
              <a:buNone/>
              <a:defRPr sz="1100" b="0" i="0" u="none" strike="noStrike" cap="none">
                <a:solidFill>
                  <a:schemeClr val="dk1"/>
                </a:solidFill>
                <a:latin typeface="Arial"/>
                <a:ea typeface="Arial"/>
                <a:cs typeface="Arial"/>
                <a:sym typeface="Arial"/>
              </a:defRPr>
            </a:lvl4pPr>
            <a:lvl5pPr marL="1828800" marR="0" lvl="4" indent="0" algn="l" rtl="0">
              <a:spcBef>
                <a:spcPts val="0"/>
              </a:spcBef>
              <a:buNone/>
              <a:defRPr sz="1100" b="0" i="0" u="none" strike="noStrike" cap="none">
                <a:solidFill>
                  <a:schemeClr val="dk1"/>
                </a:solidFill>
                <a:latin typeface="Arial"/>
                <a:ea typeface="Arial"/>
                <a:cs typeface="Arial"/>
                <a:sym typeface="Arial"/>
              </a:defRPr>
            </a:lvl5pPr>
            <a:lvl6pPr marL="2286000" marR="0" lvl="5" indent="0" algn="l" rtl="0">
              <a:spcBef>
                <a:spcPts val="0"/>
              </a:spcBef>
              <a:buNone/>
              <a:defRPr sz="1100" b="0" i="0" u="none" strike="noStrike" cap="none">
                <a:solidFill>
                  <a:schemeClr val="dk1"/>
                </a:solidFill>
                <a:latin typeface="Arial"/>
                <a:ea typeface="Arial"/>
                <a:cs typeface="Arial"/>
                <a:sym typeface="Arial"/>
              </a:defRPr>
            </a:lvl6pPr>
            <a:lvl7pPr marL="2743200" marR="0" lvl="6" indent="0" algn="l" rtl="0">
              <a:spcBef>
                <a:spcPts val="0"/>
              </a:spcBef>
              <a:buNone/>
              <a:defRPr sz="1100" b="0" i="0" u="none" strike="noStrike" cap="none">
                <a:solidFill>
                  <a:schemeClr val="dk1"/>
                </a:solidFill>
                <a:latin typeface="Arial"/>
                <a:ea typeface="Arial"/>
                <a:cs typeface="Arial"/>
                <a:sym typeface="Arial"/>
              </a:defRPr>
            </a:lvl7pPr>
            <a:lvl8pPr marL="3200400" marR="0" lvl="7" indent="0" algn="l" rtl="0">
              <a:spcBef>
                <a:spcPts val="0"/>
              </a:spcBef>
              <a:buNone/>
              <a:defRPr sz="1100" b="0" i="0" u="none" strike="noStrike" cap="none">
                <a:solidFill>
                  <a:schemeClr val="dk1"/>
                </a:solidFill>
                <a:latin typeface="Arial"/>
                <a:ea typeface="Arial"/>
                <a:cs typeface="Arial"/>
                <a:sym typeface="Arial"/>
              </a:defRPr>
            </a:lvl8pPr>
            <a:lvl9pPr marL="3657600" marR="0" lvl="8" indent="0" algn="l" rtl="0">
              <a:spcBef>
                <a:spcPts val="0"/>
              </a:spcBef>
              <a:buNone/>
              <a:defRPr sz="11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Shape 51"/>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noAutofit/>
          </a:bodyPr>
          <a:lstStyle/>
          <a:p>
            <a:pPr marL="0" marR="0" lvl="0" indent="0" algn="l" rtl="0">
              <a:spcBef>
                <a:spcPts val="0"/>
              </a:spcBef>
              <a:buClr>
                <a:schemeClr val="dk1"/>
              </a:buClr>
              <a:buSzPct val="25000"/>
              <a:buFont typeface="Arial"/>
              <a:buNone/>
            </a:pPr>
            <a:endParaRPr sz="1100" b="0" i="0" u="none" strike="noStrike" cap="none">
              <a:solidFill>
                <a:schemeClr val="dk1"/>
              </a:solidFill>
              <a:latin typeface="Arial"/>
              <a:ea typeface="Arial"/>
              <a:cs typeface="Arial"/>
              <a:sym typeface="Arial"/>
            </a:endParaRPr>
          </a:p>
        </p:txBody>
      </p:sp>
      <p:sp>
        <p:nvSpPr>
          <p:cNvPr id="52" name="Shape 52"/>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Shape 57"/>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dirty="0"/>
          </a:p>
        </p:txBody>
      </p:sp>
      <p:sp>
        <p:nvSpPr>
          <p:cNvPr id="58" name="Shape 5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Shape 63"/>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64" name="Shape 64"/>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https://www.merriam-webster.com/dictionary/security</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Shape 69"/>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70" name="Shape 70"/>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Shape 7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76" name="Shape 76"/>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Integrity should not be confused with accuracy, which is a function of the application or user. </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File integrity checkers create hashes for files on a system and then compare those to later hashes. If they differ, the file has been modified.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Shape 81"/>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82" name="Shape 82"/>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In 2016, a ransomware attack against MedStar Georgetown University Hospital crippled the hospital when it was unable to access patient records databases. Nurses where unable to ascertain when patients had received their medication.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Shape 87"/>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88" name="Shape 8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Shape 93"/>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94" name="Shape 94"/>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Shape 99"/>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100" name="Shape 100"/>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Shape 105"/>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106" name="Shape 106"/>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Shape 111"/>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112" name="Shape 112"/>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Shape 117"/>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118" name="Shape 11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Shape 123"/>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124" name="Shape 124"/>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Shape 129"/>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130" name="Shape 130"/>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Shape 136"/>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37" name="Shape 137"/>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endParaRPr sz="11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Shape 146"/>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47" name="Shape 147"/>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Shape 152"/>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153" name="Shape 153"/>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Shape 158"/>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159" name="Shape 159"/>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Shape 164"/>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165" name="Shape 16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Shape 170"/>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171" name="Shape 171"/>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Shape 176"/>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177" name="Shape 177"/>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Shape 182"/>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83" name="Shape 183"/>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From the EC-Council Web site at https://www.eccouncil.org/code-of-ethics/:</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Keep private and confidential information gained in your professional work, (in particular as it pertains to client lists and client personal information). Not collect, give, sell, or transfer any personal information (such as name, e-mail address, Social Security number, or other unique identifier) to a third party without client prior consent.</a:t>
            </a: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Protect the intellectual property of others by relying on your own innovation and efforts, thus ensuring that all benefits vest with its originator.</a:t>
            </a: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Disclose to appropriate persons or authorities potential dangers to any ecommerce clients, the Internet community, or the public, that you reasonably believe to be associated with a particular set or type of electronic transactions or related software or hardware.</a:t>
            </a: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Provide service in your areas of competence, being honest and forthright about any limitations of your experience and education. Ensure that you are qualified for any project on which you work or propose to work by an appropriate combination of education, training, and experience.</a:t>
            </a: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Never knowingly use software or process that is obtained or retained either illegally or unethically.</a:t>
            </a: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Not to engage in deceptive financial practices such as bribery, double billing, or other improper financial practices.</a:t>
            </a: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Use the property of a client or employer only in ways properly authorized, and with the owner’s knowledge and consent.</a:t>
            </a: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Disclose to all concerned parties those conflicts of interest that cannot reasonably be avoided or escaped.</a:t>
            </a: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Ensure good management for any project you lead, including effective procedures for promotion of quality and full disclosure of risk.</a:t>
            </a: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Add to the knowledge of the e-commerce profession by constant study, share the lessons of your experience with fellow EC-Council members, and promote public awareness of benefits of electronic commerce.</a:t>
            </a: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Conduct oneself in the most ethical and competent manner when soliciting professional service or seeking employment, thus meriting confidence in your knowledge and integrity.</a:t>
            </a: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Ensure ethical conduct and professional care at all times on all professional assignments without prejudice.</a:t>
            </a: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Not to neither associate with malicious hackers nor engage in any malicious activities.</a:t>
            </a: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Not to purposefully compromise or allow the client organization’s systems to be compromised in the course of your professional dealings.</a:t>
            </a: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Ensure all penetration testing activities are authorized and within legal limits.</a:t>
            </a: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Not to take part in any black hat activity or be associated with any black hat community that serves to endanger networks.</a:t>
            </a: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Not to be part of any underground hacking community for purposes of preaching and expanding black hat activities.</a:t>
            </a: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Not to make inappropriate reference to the certification or misleading use of certificates, marks or logos in publications, catalogues, documents or speeches.</a:t>
            </a:r>
          </a:p>
          <a:p>
            <a:pPr marL="171450" marR="0" lvl="0" indent="-171450" algn="l" rtl="0">
              <a:spcBef>
                <a:spcPts val="0"/>
              </a:spcBef>
              <a:spcAft>
                <a:spcPts val="0"/>
              </a:spcAft>
              <a:buClr>
                <a:schemeClr val="dk1"/>
              </a:buClr>
              <a:buSzPct val="100000"/>
              <a:buFont typeface="Arial"/>
              <a:buChar char="•"/>
            </a:pPr>
            <a:r>
              <a:rPr lang="en-US" sz="1100" b="0" i="0" u="none" strike="noStrike" cap="none">
                <a:solidFill>
                  <a:schemeClr val="dk1"/>
                </a:solidFill>
                <a:latin typeface="Arial"/>
                <a:ea typeface="Arial"/>
                <a:cs typeface="Arial"/>
                <a:sym typeface="Arial"/>
              </a:rPr>
              <a:t>Not convicted in any felony, or violated any law of the land.</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buSzPct val="25000"/>
              <a:buNone/>
            </a:pPr>
            <a:endParaRPr sz="1100" b="0" i="0" u="none" strike="noStrike" cap="none">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grpSp>
        <p:nvGrpSpPr>
          <p:cNvPr id="10" name="Group 9"/>
          <p:cNvGrpSpPr/>
          <p:nvPr/>
        </p:nvGrpSpPr>
        <p:grpSpPr>
          <a:xfrm>
            <a:off x="2249552" y="3401981"/>
            <a:ext cx="5372100" cy="2059641"/>
            <a:chOff x="914400" y="3657600"/>
            <a:chExt cx="7162800" cy="2059641"/>
          </a:xfrm>
        </p:grpSpPr>
        <p:sp>
          <p:nvSpPr>
            <p:cNvPr id="11" name="Rectangle 10"/>
            <p:cNvSpPr/>
            <p:nvPr/>
          </p:nvSpPr>
          <p:spPr>
            <a:xfrm>
              <a:off x="914400" y="3657600"/>
              <a:ext cx="7162800" cy="1295400"/>
            </a:xfrm>
            <a:prstGeom prst="rect">
              <a:avLst/>
            </a:prstGeom>
            <a:noFill/>
            <a:ln w="12700">
              <a:solidFill>
                <a:srgbClr val="2955A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Rectangle 11"/>
            <p:cNvSpPr/>
            <p:nvPr/>
          </p:nvSpPr>
          <p:spPr>
            <a:xfrm>
              <a:off x="914400" y="5069541"/>
              <a:ext cx="7162800" cy="647700"/>
            </a:xfrm>
            <a:prstGeom prst="rect">
              <a:avLst/>
            </a:prstGeom>
            <a:noFill/>
            <a:ln w="12700">
              <a:solidFill>
                <a:srgbClr val="2955A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3" name="Rectangle 12"/>
            <p:cNvSpPr/>
            <p:nvPr/>
          </p:nvSpPr>
          <p:spPr>
            <a:xfrm>
              <a:off x="914400" y="3657600"/>
              <a:ext cx="228600" cy="1295400"/>
            </a:xfrm>
            <a:prstGeom prst="rect">
              <a:avLst/>
            </a:prstGeom>
            <a:solidFill>
              <a:srgbClr val="2955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Rectangle 13"/>
            <p:cNvSpPr/>
            <p:nvPr/>
          </p:nvSpPr>
          <p:spPr>
            <a:xfrm>
              <a:off x="914400" y="5069541"/>
              <a:ext cx="228600" cy="647700"/>
            </a:xfrm>
            <a:prstGeom prst="rect">
              <a:avLst/>
            </a:prstGeom>
            <a:solidFill>
              <a:srgbClr val="2955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grpSp>
      <p:sp>
        <p:nvSpPr>
          <p:cNvPr id="15" name="Title 1"/>
          <p:cNvSpPr>
            <a:spLocks noGrp="1"/>
          </p:cNvSpPr>
          <p:nvPr>
            <p:ph type="ctrTitle" hasCustomPrompt="1"/>
          </p:nvPr>
        </p:nvSpPr>
        <p:spPr>
          <a:xfrm>
            <a:off x="2629775" y="3616586"/>
            <a:ext cx="4611655" cy="803564"/>
          </a:xfrm>
          <a:prstGeom prst="rect">
            <a:avLst/>
          </a:prstGeom>
        </p:spPr>
        <p:txBody>
          <a:bodyPr anchor="b">
            <a:noAutofit/>
          </a:bodyPr>
          <a:lstStyle>
            <a:lvl1pPr algn="l">
              <a:defRPr lang="en-US" sz="3000" b="1" kern="1200" baseline="0" dirty="0" smtClean="0">
                <a:solidFill>
                  <a:srgbClr val="2955A6"/>
                </a:solidFill>
                <a:latin typeface="+mj-lt"/>
                <a:ea typeface="+mj-ea"/>
                <a:cs typeface="+mj-cs"/>
              </a:defRPr>
            </a:lvl1pPr>
          </a:lstStyle>
          <a:p>
            <a:r>
              <a:rPr lang="en-US" dirty="0"/>
              <a:t>Module Name</a:t>
            </a:r>
          </a:p>
        </p:txBody>
      </p:sp>
      <p:sp>
        <p:nvSpPr>
          <p:cNvPr id="20" name="Text Placeholder 19"/>
          <p:cNvSpPr>
            <a:spLocks noGrp="1"/>
          </p:cNvSpPr>
          <p:nvPr>
            <p:ph type="body" sz="quarter" idx="13"/>
          </p:nvPr>
        </p:nvSpPr>
        <p:spPr>
          <a:xfrm>
            <a:off x="2629775" y="4998325"/>
            <a:ext cx="4220429" cy="278892"/>
          </a:xfrm>
          <a:prstGeom prst="rect">
            <a:avLst/>
          </a:prstGeom>
        </p:spPr>
        <p:txBody>
          <a:bodyPr anchor="ctr"/>
          <a:lstStyle>
            <a:lvl1pPr marL="0" indent="0">
              <a:buNone/>
              <a:defRPr/>
            </a:lvl1pPr>
            <a:lvl3pPr marL="685800" indent="0">
              <a:buNone/>
              <a:defRPr/>
            </a:lvl3pPr>
            <a:lvl5pPr marL="1371600" indent="0" algn="l">
              <a:buNone/>
              <a:defRPr/>
            </a:lvl5pPr>
          </a:lstStyle>
          <a:p>
            <a:pPr lvl="0"/>
            <a:r>
              <a:rPr lang="en-US"/>
              <a:t>Edit Master text styles</a:t>
            </a:r>
          </a:p>
        </p:txBody>
      </p:sp>
      <p:pic>
        <p:nvPicPr>
          <p:cNvPr id="2" name="Picture 1"/>
          <p:cNvPicPr>
            <a:picLocks noChangeAspect="1"/>
          </p:cNvPicPr>
          <p:nvPr/>
        </p:nvPicPr>
        <p:blipFill>
          <a:blip r:embed="rId2"/>
          <a:stretch>
            <a:fillRect/>
          </a:stretch>
        </p:blipFill>
        <p:spPr>
          <a:xfrm>
            <a:off x="417271" y="283768"/>
            <a:ext cx="1883002" cy="1870957"/>
          </a:xfrm>
          <a:prstGeom prst="rect">
            <a:avLst/>
          </a:prstGeom>
        </p:spPr>
      </p:pic>
      <p:pic>
        <p:nvPicPr>
          <p:cNvPr id="3" name="Picture 2"/>
          <p:cNvPicPr>
            <a:picLocks noChangeAspect="1"/>
          </p:cNvPicPr>
          <p:nvPr/>
        </p:nvPicPr>
        <p:blipFill>
          <a:blip r:embed="rId3"/>
          <a:stretch>
            <a:fillRect/>
          </a:stretch>
        </p:blipFill>
        <p:spPr>
          <a:xfrm>
            <a:off x="7414634" y="283768"/>
            <a:ext cx="1210054" cy="1210054"/>
          </a:xfrm>
          <a:prstGeom prst="rect">
            <a:avLst/>
          </a:prstGeom>
        </p:spPr>
      </p:pic>
    </p:spTree>
    <p:extLst>
      <p:ext uri="{BB962C8B-B14F-4D97-AF65-F5344CB8AC3E}">
        <p14:creationId xmlns:p14="http://schemas.microsoft.com/office/powerpoint/2010/main" val="36290302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28650" y="365126"/>
            <a:ext cx="7886700" cy="1325563"/>
          </a:xfrm>
          <a:prstGeom prst="rect">
            <a:avLst/>
          </a:prstGeom>
        </p:spPr>
        <p:txBody>
          <a:bodyPr/>
          <a:lstStyle>
            <a:lvl1pPr>
              <a:defRPr/>
            </a:lvl1pPr>
          </a:lstStyle>
          <a:p>
            <a:r>
              <a:rPr lang="en-US" dirty="0"/>
              <a:t>Slide Title</a:t>
            </a:r>
          </a:p>
        </p:txBody>
      </p:sp>
      <p:sp>
        <p:nvSpPr>
          <p:cNvPr id="3" name="Content Placeholder 2"/>
          <p:cNvSpPr>
            <a:spLocks noGrp="1"/>
          </p:cNvSpPr>
          <p:nvPr>
            <p:ph idx="1"/>
          </p:nvPr>
        </p:nvSpPr>
        <p:spPr>
          <a:xfrm>
            <a:off x="628650" y="1825625"/>
            <a:ext cx="78867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35014596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a:prstGeom prst="rect">
            <a:avLst/>
          </a:prstGeo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a:prstGeom prst="rect">
            <a:avLst/>
          </a:prstGeo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
        <p:nvSpPr>
          <p:cNvPr id="6" name="Slide Number Placeholder 5"/>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38610656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628650" y="1825625"/>
            <a:ext cx="38862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825625"/>
            <a:ext cx="38862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35828480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629842" y="1681163"/>
            <a:ext cx="3868340" cy="823912"/>
          </a:xfrm>
          <a:prstGeom prst="rect">
            <a:avLst/>
          </a:prstGeo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391" cy="823912"/>
          </a:xfrm>
          <a:prstGeom prst="rect">
            <a:avLst/>
          </a:prstGeo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Placeholder 8"/>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30258472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en-US"/>
              <a:t>Click to edit Master title style</a:t>
            </a:r>
          </a:p>
        </p:txBody>
      </p:sp>
      <p:sp>
        <p:nvSpPr>
          <p:cNvPr id="5" name="Slide Number Placeholder 4"/>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13506226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a:prstGeom prst="rect">
            <a:avLst/>
          </a:prstGeo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26"/>
            <a:ext cx="4629150" cy="4873625"/>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2057400"/>
            <a:ext cx="2949178" cy="3811588"/>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51841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a:prstGeom prst="rect">
            <a:avLst/>
          </a:prstGeo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3887391" y="987426"/>
            <a:ext cx="4629150" cy="4873625"/>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29841" y="2057400"/>
            <a:ext cx="2949178" cy="3811588"/>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2293885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blank" preserve="1">
  <p:cSld name="Last Slide">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792587" y="187779"/>
            <a:ext cx="5550681" cy="6670221"/>
          </a:xfrm>
          <a:prstGeom prst="rect">
            <a:avLst/>
          </a:prstGeom>
        </p:spPr>
      </p:pic>
    </p:spTree>
    <p:extLst>
      <p:ext uri="{BB962C8B-B14F-4D97-AF65-F5344CB8AC3E}">
        <p14:creationId xmlns:p14="http://schemas.microsoft.com/office/powerpoint/2010/main" val="3885081570"/>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hyperlink" Target="http://www.c5colleges.org/" TargetMode="Externa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hyperlink" Target="https://creativecommons.org/licenses/by/4.0/" TargetMode="Externa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lide Number Placeholder 5" title="Page Number"/>
          <p:cNvSpPr>
            <a:spLocks noGrp="1"/>
          </p:cNvSpPr>
          <p:nvPr>
            <p:ph type="sldNum" sz="quarter" idx="4"/>
          </p:nvPr>
        </p:nvSpPr>
        <p:spPr>
          <a:xfrm>
            <a:off x="8019661" y="6329898"/>
            <a:ext cx="49568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8026FE3C-7E70-4420-AA12-392E0D4EE99D}" type="slidenum">
              <a:rPr lang="en-US" smtClean="0"/>
              <a:t>‹#›</a:t>
            </a:fld>
            <a:endParaRPr lang="en-US" dirty="0"/>
          </a:p>
        </p:txBody>
      </p:sp>
      <p:sp>
        <p:nvSpPr>
          <p:cNvPr id="7" name="Title Placeholder 6"/>
          <p:cNvSpPr>
            <a:spLocks noGrp="1"/>
          </p:cNvSpPr>
          <p:nvPr>
            <p:ph type="title"/>
          </p:nvPr>
        </p:nvSpPr>
        <p:spPr>
          <a:xfrm>
            <a:off x="628650" y="457200"/>
            <a:ext cx="5685995" cy="1101133"/>
          </a:xfrm>
          <a:prstGeom prst="rect">
            <a:avLst/>
          </a:prstGeom>
        </p:spPr>
        <p:txBody>
          <a:bodyPr vert="horz" lIns="91440" tIns="45720" rIns="91440" bIns="45720" rtlCol="0" anchor="ctr">
            <a:normAutofit/>
          </a:bodyPr>
          <a:lstStyle/>
          <a:p>
            <a:r>
              <a:rPr lang="en-US"/>
              <a:t>Click to edit Master title style</a:t>
            </a:r>
            <a:endParaRPr lang="en-US" dirty="0"/>
          </a:p>
        </p:txBody>
      </p:sp>
      <p:pic>
        <p:nvPicPr>
          <p:cNvPr id="12" name="Picture 11" title="Creative Commons Logo"/>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28650" y="6463019"/>
            <a:ext cx="720197" cy="295275"/>
          </a:xfrm>
          <a:prstGeom prst="rect">
            <a:avLst/>
          </a:prstGeom>
        </p:spPr>
      </p:pic>
      <p:sp>
        <p:nvSpPr>
          <p:cNvPr id="4" name="Text Placeholder 3"/>
          <p:cNvSpPr>
            <a:spLocks noGrp="1"/>
          </p:cNvSpPr>
          <p:nvPr>
            <p:ph type="body" idx="1"/>
          </p:nvPr>
        </p:nvSpPr>
        <p:spPr>
          <a:xfrm>
            <a:off x="628650" y="1825625"/>
            <a:ext cx="7886700" cy="4482632"/>
          </a:xfrm>
          <a:prstGeom prst="rect">
            <a:avLst/>
          </a:prstGeom>
        </p:spPr>
        <p:txBody>
          <a:bodyPr vert="horz" lIns="91440" tIns="45720" rIns="91440" bIns="45720" rtlCol="0">
            <a:normAutofit/>
          </a:bodyPr>
          <a:lstStyle/>
          <a:p>
            <a:pPr marL="171450" marR="0" lvl="0" indent="-171450" algn="l" defTabSz="685800" rtl="0" eaLnBrk="1" fontAlgn="auto" latinLnBrk="0" hangingPunct="1">
              <a:lnSpc>
                <a:spcPct val="90000"/>
              </a:lnSpc>
              <a:spcBef>
                <a:spcPts val="750"/>
              </a:spcBef>
              <a:spcAft>
                <a:spcPts val="0"/>
              </a:spcAft>
              <a:buClrTx/>
              <a:buSzTx/>
              <a:buFont typeface="Arial" panose="020B0604020202020204" pitchFamily="34" charset="0"/>
              <a:buChar char="•"/>
              <a:tabLst/>
              <a:defRPr/>
            </a:pPr>
            <a:r>
              <a:rPr lang="en-US" dirty="0"/>
              <a:t>Click to edit M</a:t>
            </a:r>
          </a:p>
          <a:p>
            <a:pPr lvl="0"/>
            <a:r>
              <a:rPr lang="en-US" dirty="0"/>
              <a:t>aster text styles</a:t>
            </a:r>
          </a:p>
          <a:p>
            <a:pPr lvl="1"/>
            <a:r>
              <a:rPr lang="en-US" dirty="0"/>
              <a:t>Second </a:t>
            </a:r>
            <a:r>
              <a:rPr lang="en-US" dirty="0" err="1"/>
              <a:t>levelThird</a:t>
            </a:r>
            <a:r>
              <a:rPr lang="en-US" dirty="0"/>
              <a:t> level</a:t>
            </a:r>
          </a:p>
          <a:p>
            <a:pPr lvl="3"/>
            <a:r>
              <a:rPr lang="en-US" dirty="0"/>
              <a:t>Fourth level</a:t>
            </a:r>
          </a:p>
          <a:p>
            <a:pPr lvl="4"/>
            <a:r>
              <a:rPr lang="en-US" dirty="0"/>
              <a:t>Fifth level</a:t>
            </a:r>
          </a:p>
        </p:txBody>
      </p:sp>
      <p:sp>
        <p:nvSpPr>
          <p:cNvPr id="13" name="Rectangle 2"/>
          <p:cNvSpPr>
            <a:spLocks noChangeArrowheads="1"/>
          </p:cNvSpPr>
          <p:nvPr/>
        </p:nvSpPr>
        <p:spPr bwMode="auto">
          <a:xfrm>
            <a:off x="1" y="90100"/>
            <a:ext cx="1385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68580" tIns="34290" rIns="68580" bIns="34290" numCol="1" anchor="ctr" anchorCtr="0" compatLnSpc="1">
            <a:prstTxWarp prst="textNoShape">
              <a:avLst/>
            </a:prstTxWarp>
            <a:spAutoFit/>
          </a:bodyPr>
          <a:lstStyle/>
          <a:p>
            <a:endParaRPr lang="en-US" sz="1350"/>
          </a:p>
        </p:txBody>
      </p:sp>
      <p:sp>
        <p:nvSpPr>
          <p:cNvPr id="15" name="Rectangle 3"/>
          <p:cNvSpPr>
            <a:spLocks noChangeArrowheads="1"/>
          </p:cNvSpPr>
          <p:nvPr/>
        </p:nvSpPr>
        <p:spPr bwMode="auto">
          <a:xfrm rot="10800000" flipV="1">
            <a:off x="1397918" y="6512460"/>
            <a:ext cx="414745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68580" tIns="34290" rIns="68580" bIns="34290" numCol="1" anchor="ctr" anchorCtr="0" compatLnSpc="1">
            <a:prstTxWarp prst="textNoShape">
              <a:avLst/>
            </a:prstTxWarp>
            <a:spAutoFit/>
          </a:bodyPr>
          <a:lstStyle>
            <a:lvl1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1pPr>
            <a:lvl2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2pPr>
            <a:lvl3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3pPr>
            <a:lvl4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4pPr>
            <a:lvl5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5pPr>
            <a:lvl6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6pPr>
            <a:lvl7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7pPr>
            <a:lvl8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8pPr>
            <a:lvl9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9pPr>
          </a:lstStyle>
          <a:p>
            <a:pPr marL="0" marR="0" lvl="0" indent="0" algn="l" defTabSz="685800" rtl="0" eaLnBrk="0" fontAlgn="base" latinLnBrk="0" hangingPunct="0">
              <a:lnSpc>
                <a:spcPct val="100000"/>
              </a:lnSpc>
              <a:spcBef>
                <a:spcPct val="0"/>
              </a:spcBef>
              <a:spcAft>
                <a:spcPct val="0"/>
              </a:spcAft>
              <a:buClrTx/>
              <a:buSzTx/>
              <a:buFontTx/>
              <a:buNone/>
              <a:tabLst>
                <a:tab pos="2228850" algn="ctr"/>
                <a:tab pos="4457700" algn="r"/>
              </a:tabLst>
            </a:pPr>
            <a:r>
              <a:rPr kumimoji="0" lang="en-US" altLang="en-US" sz="525"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This document is licensed with a </a:t>
            </a:r>
            <a:r>
              <a:rPr kumimoji="0" lang="en-US" altLang="en-US" sz="525"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hlinkClick r:id="rId12"/>
              </a:rPr>
              <a:t>Creative Commons Attribution 4.0 International License</a:t>
            </a:r>
            <a:r>
              <a:rPr kumimoji="0" lang="en-US" altLang="en-US" sz="525" b="0" i="0" u="none" strike="noStrike" cap="none" normalizeH="0" baseline="0" dirty="0">
                <a:ln>
                  <a:noFill/>
                </a:ln>
                <a:solidFill>
                  <a:srgbClr val="0070C0"/>
                </a:solidFill>
                <a:effectLst/>
                <a:latin typeface="Calibri" panose="020F0502020204030204" pitchFamily="34" charset="0"/>
                <a:ea typeface="Times New Roman" panose="02020603050405020304" pitchFamily="18" charset="0"/>
                <a:cs typeface="Times New Roman" panose="02020603050405020304" pitchFamily="18" charset="0"/>
              </a:rPr>
              <a:t>   </a:t>
            </a:r>
            <a:r>
              <a:rPr kumimoji="0" lang="en-US" altLang="en-US" sz="525"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©2017  </a:t>
            </a:r>
            <a:r>
              <a:rPr kumimoji="0" lang="en-US" altLang="en-US" sz="12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hlinkClick r:id="rId13"/>
              </a:rPr>
              <a:t>www.C5colleges.org</a:t>
            </a:r>
            <a:endParaRPr kumimoji="0" lang="en-US" altLang="en-US" sz="1350" b="1"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53635213"/>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Lst>
  <p:hf sldNum="0"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marR="0" indent="-171450" algn="l" defTabSz="685800" rtl="0" eaLnBrk="1" fontAlgn="auto" latinLnBrk="0" hangingPunct="1">
        <a:lnSpc>
          <a:spcPct val="90000"/>
        </a:lnSpc>
        <a:spcBef>
          <a:spcPts val="750"/>
        </a:spcBef>
        <a:spcAft>
          <a:spcPts val="0"/>
        </a:spcAft>
        <a:buClrTx/>
        <a:buSzTx/>
        <a:buFont typeface="Arial" panose="020B0604020202020204" pitchFamily="34" charset="0"/>
        <a:buChar char="•"/>
        <a:tabLst/>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Shape 54"/>
          <p:cNvSpPr txBox="1">
            <a:spLocks noGrp="1"/>
          </p:cNvSpPr>
          <p:nvPr>
            <p:ph type="ctrTitle"/>
          </p:nvPr>
        </p:nvSpPr>
        <p:spPr>
          <a:prstGeom prst="rect">
            <a:avLst/>
          </a:prstGeom>
          <a:noFill/>
          <a:ln>
            <a:noFill/>
          </a:ln>
        </p:spPr>
        <p:txBody>
          <a:bodyPr lIns="91425" tIns="45700" rIns="91425" bIns="45700" anchor="b" anchorCtr="0">
            <a:noAutofit/>
          </a:bodyPr>
          <a:lstStyle/>
          <a:p>
            <a:pPr marL="0" marR="0" lvl="0" indent="0" algn="l" rtl="0">
              <a:lnSpc>
                <a:spcPct val="100000"/>
              </a:lnSpc>
              <a:spcBef>
                <a:spcPts val="0"/>
              </a:spcBef>
              <a:spcAft>
                <a:spcPts val="0"/>
              </a:spcAft>
              <a:buClr>
                <a:schemeClr val="dk2"/>
              </a:buClr>
              <a:buSzPct val="25000"/>
              <a:buFont typeface="Libre Baskerville"/>
              <a:buNone/>
            </a:pPr>
            <a:r>
              <a:rPr lang="en-US" b="1">
                <a:solidFill>
                  <a:srgbClr val="2851A9"/>
                </a:solidFill>
              </a:rPr>
              <a:t>Cybersecurity Threats and Countermeasures</a:t>
            </a:r>
          </a:p>
        </p:txBody>
      </p:sp>
      <p:sp>
        <p:nvSpPr>
          <p:cNvPr id="55" name="Shape 55"/>
          <p:cNvSpPr txBox="1">
            <a:spLocks noGrp="1"/>
          </p:cNvSpPr>
          <p:nvPr>
            <p:ph type="body" sz="quarter" idx="13"/>
          </p:nvPr>
        </p:nvSpPr>
        <p:spPr>
          <a:prstGeom prst="rect">
            <a:avLst/>
          </a:prstGeom>
          <a:noFill/>
          <a:ln>
            <a:noFill/>
          </a:ln>
        </p:spPr>
        <p:txBody>
          <a:bodyPr lIns="91425" tIns="45700" rIns="91425" bIns="45700" anchor="t" anchorCtr="0">
            <a:noAutofit/>
          </a:bodyPr>
          <a:lstStyle/>
          <a:p>
            <a:pPr marL="0" marR="0" lvl="0" indent="0" algn="l" rtl="0">
              <a:lnSpc>
                <a:spcPct val="100000"/>
              </a:lnSpc>
              <a:spcBef>
                <a:spcPts val="0"/>
              </a:spcBef>
              <a:spcAft>
                <a:spcPts val="0"/>
              </a:spcAft>
              <a:buClr>
                <a:schemeClr val="accent1"/>
              </a:buClr>
              <a:buSzPct val="25000"/>
              <a:buFont typeface="Noto Sans Symbols"/>
              <a:buNone/>
            </a:pPr>
            <a:r>
              <a:rPr lang="en-US" sz="2000" b="1" i="0" u="none" strike="noStrike" cap="none">
                <a:solidFill>
                  <a:srgbClr val="2851A9"/>
                </a:solidFill>
                <a:latin typeface="Calibri"/>
                <a:ea typeface="Calibri"/>
                <a:cs typeface="Calibri"/>
                <a:sym typeface="Calibri"/>
              </a:rPr>
              <a:t> Unit 3:  Cyber defense mechanisms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Shape 60"/>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Learning Objectives</a:t>
            </a:r>
          </a:p>
        </p:txBody>
      </p:sp>
      <p:sp>
        <p:nvSpPr>
          <p:cNvPr id="61" name="Shape 61"/>
          <p:cNvSpPr txBox="1">
            <a:spLocks noGrp="1"/>
          </p:cNvSpPr>
          <p:nvPr>
            <p:ph idx="1"/>
          </p:nvPr>
        </p:nvSpPr>
        <p:spPr>
          <a:xfrm>
            <a:off x="457200" y="1946666"/>
            <a:ext cx="8229600" cy="3771900"/>
          </a:xfrm>
          <a:prstGeom prst="rect">
            <a:avLst/>
          </a:prstGeom>
          <a:noFill/>
          <a:ln>
            <a:noFill/>
          </a:ln>
        </p:spPr>
        <p:txBody>
          <a:bodyPr lIns="91425" tIns="45700" rIns="91425" bIns="45700" anchor="t" anchorCtr="0">
            <a:noAutofit/>
          </a:bodyPr>
          <a:lstStyle/>
          <a:p>
            <a:pPr marL="742950" marR="0" lvl="1" indent="-285750" algn="l" rtl="0">
              <a:spcBef>
                <a:spcPts val="360"/>
              </a:spcBef>
              <a:spcAft>
                <a:spcPts val="0"/>
              </a:spcAft>
              <a:buClr>
                <a:srgbClr val="2955A6"/>
              </a:buClr>
              <a:buSzPct val="100000"/>
              <a:buFont typeface="Arial"/>
              <a:buChar char="–"/>
            </a:pPr>
            <a:r>
              <a:rPr lang="en-US" sz="1800" b="0" i="0" u="none" strike="noStrike" cap="none" dirty="0">
                <a:solidFill>
                  <a:srgbClr val="2955A6"/>
                </a:solidFill>
                <a:latin typeface="Calibri"/>
                <a:ea typeface="Calibri"/>
                <a:cs typeface="Calibri"/>
                <a:sym typeface="Calibri"/>
              </a:rPr>
              <a:t>Identify common security services, including confidentiality, integrity, availability, authentication, authorization, and access control. </a:t>
            </a:r>
          </a:p>
          <a:p>
            <a:pPr marL="742950" marR="0" lvl="1" indent="-285750" algn="l" rtl="0">
              <a:spcBef>
                <a:spcPts val="360"/>
              </a:spcBef>
              <a:spcAft>
                <a:spcPts val="0"/>
              </a:spcAft>
              <a:buClr>
                <a:srgbClr val="2955A6"/>
              </a:buClr>
              <a:buSzPct val="100000"/>
              <a:buFont typeface="Arial"/>
              <a:buChar char="–"/>
            </a:pPr>
            <a:r>
              <a:rPr lang="en-US" sz="1800" b="0" i="0" u="none" strike="noStrike" cap="none" dirty="0">
                <a:solidFill>
                  <a:srgbClr val="2955A6"/>
                </a:solidFill>
                <a:latin typeface="Calibri"/>
                <a:ea typeface="Calibri"/>
                <a:cs typeface="Calibri"/>
                <a:sym typeface="Calibri"/>
              </a:rPr>
              <a:t>Identify common security components.  </a:t>
            </a:r>
          </a:p>
          <a:p>
            <a:pPr marL="742950" marR="0" lvl="1" indent="-285750" algn="l" rtl="0">
              <a:spcBef>
                <a:spcPts val="360"/>
              </a:spcBef>
              <a:spcAft>
                <a:spcPts val="0"/>
              </a:spcAft>
              <a:buClr>
                <a:srgbClr val="2955A6"/>
              </a:buClr>
              <a:buSzPct val="100000"/>
              <a:buFont typeface="Arial"/>
              <a:buChar char="–"/>
            </a:pPr>
            <a:r>
              <a:rPr lang="en-US" sz="1800" b="0" i="0" u="none" strike="noStrike" cap="none" dirty="0">
                <a:solidFill>
                  <a:srgbClr val="2955A6"/>
                </a:solidFill>
                <a:latin typeface="Calibri"/>
                <a:ea typeface="Calibri"/>
                <a:cs typeface="Calibri"/>
                <a:sym typeface="Calibri"/>
              </a:rPr>
              <a:t>Describe common security control types (including preventive, deterrent, detective, and corrective).  </a:t>
            </a:r>
          </a:p>
          <a:p>
            <a:pPr marL="742950" marR="0" lvl="1" indent="-285750" algn="l" rtl="0">
              <a:spcBef>
                <a:spcPts val="360"/>
              </a:spcBef>
              <a:spcAft>
                <a:spcPts val="0"/>
              </a:spcAft>
              <a:buClr>
                <a:srgbClr val="2955A6"/>
              </a:buClr>
              <a:buSzPct val="100000"/>
              <a:buFont typeface="Arial"/>
              <a:buChar char="–"/>
            </a:pPr>
            <a:r>
              <a:rPr lang="en-US" sz="1800" b="0" i="0" u="none" strike="noStrike" cap="none" dirty="0">
                <a:solidFill>
                  <a:srgbClr val="2955A6"/>
                </a:solidFill>
                <a:latin typeface="Calibri"/>
                <a:ea typeface="Calibri"/>
                <a:cs typeface="Calibri"/>
                <a:sym typeface="Calibri"/>
              </a:rPr>
              <a:t>Describe the concept of “Defense-in-Depth”, or layered defense, covering security issues associated with hardware, software, and people.  </a:t>
            </a:r>
          </a:p>
          <a:p>
            <a:pPr marL="742950" marR="0" lvl="1" indent="-285750" algn="l" rtl="0">
              <a:spcBef>
                <a:spcPts val="360"/>
              </a:spcBef>
              <a:spcAft>
                <a:spcPts val="0"/>
              </a:spcAft>
              <a:buClr>
                <a:srgbClr val="2955A6"/>
              </a:buClr>
              <a:buSzPct val="100000"/>
              <a:buFont typeface="Arial"/>
              <a:buChar char="–"/>
            </a:pPr>
            <a:r>
              <a:rPr lang="en-US" sz="1800" b="0" i="0" u="none" strike="noStrike" cap="none" dirty="0">
                <a:solidFill>
                  <a:srgbClr val="2955A6"/>
                </a:solidFill>
                <a:latin typeface="Calibri"/>
                <a:ea typeface="Calibri"/>
                <a:cs typeface="Calibri"/>
                <a:sym typeface="Calibri"/>
              </a:rPr>
              <a:t>Explain the concept of trusted computing. </a:t>
            </a:r>
          </a:p>
          <a:p>
            <a:pPr marL="742950" marR="0" lvl="1" indent="-285750" algn="l" rtl="0">
              <a:spcBef>
                <a:spcPts val="360"/>
              </a:spcBef>
              <a:spcAft>
                <a:spcPts val="0"/>
              </a:spcAft>
              <a:buClr>
                <a:srgbClr val="2955A6"/>
              </a:buClr>
              <a:buSzPct val="100000"/>
              <a:buFont typeface="Arial"/>
              <a:buChar char="–"/>
            </a:pPr>
            <a:r>
              <a:rPr lang="en-US" sz="1800" b="0" i="0" u="none" strike="noStrike" cap="none" dirty="0">
                <a:solidFill>
                  <a:srgbClr val="2955A6"/>
                </a:solidFill>
                <a:latin typeface="Calibri"/>
                <a:ea typeface="Calibri"/>
                <a:cs typeface="Calibri"/>
                <a:sym typeface="Calibri"/>
              </a:rPr>
              <a:t>Describe cyber defense tools, methods, and components. </a:t>
            </a:r>
          </a:p>
          <a:p>
            <a:pPr marL="742950" marR="0" lvl="1" indent="-285750" algn="l" rtl="0">
              <a:spcBef>
                <a:spcPts val="360"/>
              </a:spcBef>
              <a:spcAft>
                <a:spcPts val="0"/>
              </a:spcAft>
              <a:buClr>
                <a:srgbClr val="2955A6"/>
              </a:buClr>
              <a:buSzPct val="100000"/>
              <a:buFont typeface="Arial"/>
              <a:buChar char="–"/>
            </a:pPr>
            <a:r>
              <a:rPr lang="en-US" sz="1800" b="0" i="0" u="none" strike="noStrike" cap="none" dirty="0">
                <a:solidFill>
                  <a:srgbClr val="2955A6"/>
                </a:solidFill>
                <a:latin typeface="Calibri"/>
                <a:ea typeface="Calibri"/>
                <a:cs typeface="Calibri"/>
                <a:sym typeface="Calibri"/>
              </a:rPr>
              <a:t>Describe important ethical issues to consider in computer security, including ethical issues associated with fixing or not fixing vulnerabilities and disclosing or not disclosing vulnerabilities.  </a:t>
            </a:r>
          </a:p>
          <a:p>
            <a:pPr marL="742950" marR="0" lvl="1" indent="-285750" algn="l" rtl="0">
              <a:spcBef>
                <a:spcPts val="400"/>
              </a:spcBef>
              <a:buClr>
                <a:srgbClr val="2955A6"/>
              </a:buClr>
              <a:buSzPct val="100000"/>
              <a:buFont typeface="Arial"/>
              <a:buNone/>
            </a:pPr>
            <a:endParaRPr sz="2000" b="0" i="0" u="none" strike="noStrike" cap="none" dirty="0">
              <a:solidFill>
                <a:srgbClr val="2955A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Shape 66"/>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Security Services</a:t>
            </a:r>
          </a:p>
        </p:txBody>
      </p:sp>
      <p:sp>
        <p:nvSpPr>
          <p:cNvPr id="67" name="Shape 67"/>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000" b="0" i="0" u="none" strike="noStrike" cap="none" dirty="0">
                <a:solidFill>
                  <a:srgbClr val="2955A6"/>
                </a:solidFill>
                <a:latin typeface="Calibri"/>
                <a:ea typeface="Calibri"/>
                <a:cs typeface="Calibri"/>
                <a:sym typeface="Calibri"/>
              </a:rPr>
              <a:t>Security can be defined as “the quality or state of being secure: such as freedom from danger” and provides an alternative definition as “something that secures: protection.” (Merriam-Webster)</a:t>
            </a:r>
          </a:p>
          <a:p>
            <a:pPr marL="342900" marR="0" lvl="0" indent="-342900" algn="l" rtl="0">
              <a:spcBef>
                <a:spcPts val="400"/>
              </a:spcBef>
              <a:spcAft>
                <a:spcPts val="0"/>
              </a:spcAft>
              <a:buClr>
                <a:srgbClr val="2955A6"/>
              </a:buClr>
              <a:buSzPct val="100000"/>
              <a:buFont typeface="Arial"/>
              <a:buChar char="•"/>
            </a:pPr>
            <a:r>
              <a:rPr lang="en-US" sz="2000" b="0" i="0" u="none" strike="noStrike" cap="none" dirty="0">
                <a:solidFill>
                  <a:srgbClr val="2955A6"/>
                </a:solidFill>
                <a:latin typeface="Calibri"/>
                <a:ea typeface="Calibri"/>
                <a:cs typeface="Calibri"/>
                <a:sym typeface="Calibri"/>
              </a:rPr>
              <a:t>To this end, in order to protect our information assets (information and information systems), we can provide security services, such as </a:t>
            </a:r>
            <a:r>
              <a:rPr lang="en-US" sz="2000" b="1" i="0" u="none" strike="noStrike" cap="none" dirty="0">
                <a:solidFill>
                  <a:srgbClr val="2955A6"/>
                </a:solidFill>
                <a:latin typeface="Calibri"/>
                <a:ea typeface="Calibri"/>
                <a:cs typeface="Calibri"/>
                <a:sym typeface="Calibri"/>
              </a:rPr>
              <a:t>confidentiality, integrity, availability, authentication, authorization, </a:t>
            </a:r>
            <a:r>
              <a:rPr lang="en-US" sz="2000" b="0" i="0" u="none" strike="noStrike" cap="none" dirty="0">
                <a:solidFill>
                  <a:srgbClr val="2955A6"/>
                </a:solidFill>
                <a:latin typeface="Calibri"/>
                <a:ea typeface="Calibri"/>
                <a:cs typeface="Calibri"/>
                <a:sym typeface="Calibri"/>
              </a:rPr>
              <a:t>and </a:t>
            </a:r>
            <a:r>
              <a:rPr lang="en-US" sz="2000" b="1" i="0" u="none" strike="noStrike" cap="none" dirty="0">
                <a:solidFill>
                  <a:srgbClr val="2955A6"/>
                </a:solidFill>
                <a:latin typeface="Calibri"/>
                <a:ea typeface="Calibri"/>
                <a:cs typeface="Calibri"/>
                <a:sym typeface="Calibri"/>
              </a:rPr>
              <a:t>access control</a:t>
            </a:r>
            <a:r>
              <a:rPr lang="en-US" sz="2000" b="0" i="0" u="none" strike="noStrike" cap="none" dirty="0">
                <a:solidFill>
                  <a:srgbClr val="2955A6"/>
                </a:solidFill>
                <a:latin typeface="Calibri"/>
                <a:ea typeface="Calibri"/>
                <a:cs typeface="Calibri"/>
                <a:sym typeface="Calibri"/>
              </a:rPr>
              <a:t>, where warranted.</a:t>
            </a:r>
          </a:p>
          <a:p>
            <a:pPr marL="342900" marR="0" lvl="0" indent="-342900" algn="l" rtl="0">
              <a:spcBef>
                <a:spcPts val="400"/>
              </a:spcBef>
              <a:spcAft>
                <a:spcPts val="0"/>
              </a:spcAft>
              <a:buClr>
                <a:srgbClr val="2955A6"/>
              </a:buClr>
              <a:buSzPct val="100000"/>
              <a:buFont typeface="Arial"/>
              <a:buChar char="•"/>
            </a:pPr>
            <a:r>
              <a:rPr lang="en-US" sz="2000" b="0" i="0" u="none" strike="noStrike" cap="none" dirty="0">
                <a:solidFill>
                  <a:srgbClr val="2955A6"/>
                </a:solidFill>
                <a:latin typeface="Calibri"/>
                <a:ea typeface="Calibri"/>
                <a:cs typeface="Calibri"/>
                <a:sym typeface="Calibri"/>
              </a:rPr>
              <a:t>The role of a security officer or system owner is to determine when, and where, these services should be applied to protect data. Not all of these services would be required for all data, as there is always the trade-off between security and usability.</a:t>
            </a:r>
          </a:p>
          <a:p>
            <a:pPr marL="342900" marR="0" lvl="0" indent="-342900" algn="l" rtl="0">
              <a:spcBef>
                <a:spcPts val="560"/>
              </a:spcBef>
              <a:buClr>
                <a:srgbClr val="2955A6"/>
              </a:buClr>
              <a:buSzPct val="100000"/>
              <a:buFont typeface="Arial"/>
              <a:buNone/>
            </a:pPr>
            <a:endParaRPr sz="2800" b="0" i="0" u="none" strike="noStrike" cap="none" dirty="0">
              <a:solidFill>
                <a:srgbClr val="2955A6"/>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Shape 72"/>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Confidentiality</a:t>
            </a:r>
          </a:p>
        </p:txBody>
      </p:sp>
      <p:sp>
        <p:nvSpPr>
          <p:cNvPr id="73" name="Shape 73"/>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Confidentiality is concerned with limiting access to data, ensuring that only authorized users have access. </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Examples of data that might need confidentiality would be user account data, or electronic medical records.</a:t>
            </a:r>
          </a:p>
          <a:p>
            <a:pPr marL="342900" marR="0" lvl="0" indent="-342900" algn="l" rtl="0">
              <a:spcBef>
                <a:spcPts val="56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Security components that provide for confidentiality include encryption technologies, firewalls, and other devices and components that control access to data.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Shape 78"/>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Integrity</a:t>
            </a:r>
          </a:p>
        </p:txBody>
      </p:sp>
      <p:sp>
        <p:nvSpPr>
          <p:cNvPr id="79" name="Shape 79"/>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Integrity is the assurance that information has not been modified by an unauthorized individual.  </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Examples of data that must maintain integrity are bank records and electronic health records, both which could have significant negative ramifications if they were modified by an attacker.</a:t>
            </a:r>
          </a:p>
          <a:p>
            <a:pPr marL="342900" marR="0" lvl="0" indent="-34290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Technologies that provide integrity include cryptographic processes called “hashing”, which generate a digital fingerprint, or unique string, for an object.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Shape 84"/>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Availability</a:t>
            </a:r>
          </a:p>
        </p:txBody>
      </p:sp>
      <p:sp>
        <p:nvSpPr>
          <p:cNvPr id="85" name="Shape 85"/>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Availability is the assurance that the information or system will be accessible to users when it is needed.</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Examples of data that needs to be available would be, again, bank records and healthcare systems.</a:t>
            </a:r>
          </a:p>
          <a:p>
            <a:pPr marL="342900" marR="0" lvl="0" indent="-34290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Ensuring that there are redundant system components is important for providing for availability. As an example, multiple hard drives, redundant power supplies in servers, multiple web servers (clustered servers) in the event that one fails or must be taken down. The more critical availability is, the more redundancy that must be built in to the system.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Shape 90"/>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Authentication</a:t>
            </a:r>
          </a:p>
        </p:txBody>
      </p:sp>
      <p:sp>
        <p:nvSpPr>
          <p:cNvPr id="91" name="Shape 91"/>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Authentication is the verification that something, or someone, is what or who they are.</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Authentication of data is synonymous with integrity. We also can desire authentication of origin (knowing that an email was really sent by the person in the From field) or authentication of identity (is that person attempting to log in to the system really that individual?).</a:t>
            </a:r>
          </a:p>
          <a:p>
            <a:pPr marL="342900" marR="0" lvl="0" indent="-34290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Security components that provide for authentication include hashing (integrity), identity credentials, such as passwords and digital signatures, or digitally signing network packets to prove their origin.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Shape 96"/>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Authorization</a:t>
            </a:r>
          </a:p>
        </p:txBody>
      </p:sp>
      <p:sp>
        <p:nvSpPr>
          <p:cNvPr id="97" name="Shape 97"/>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Once a user is authenticated to the system, he is granted authorization to use its resources. </a:t>
            </a:r>
          </a:p>
          <a:p>
            <a:pPr marL="342900" marR="0" lvl="0" indent="-342900" algn="l" rtl="0">
              <a:spcBef>
                <a:spcPts val="56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Authorization allows you in to the network resources. In order to actually access the resources within the network, you need to have permission. Access controls provide that permission.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Shape 102"/>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Access Control</a:t>
            </a:r>
          </a:p>
        </p:txBody>
      </p:sp>
      <p:sp>
        <p:nvSpPr>
          <p:cNvPr id="103" name="Shape 103"/>
          <p:cNvSpPr txBox="1">
            <a:spLocks noGrp="1"/>
          </p:cNvSpPr>
          <p:nvPr>
            <p:ph idx="1"/>
          </p:nvPr>
        </p:nvSpPr>
        <p:spPr>
          <a:xfrm>
            <a:off x="457200" y="2057400"/>
            <a:ext cx="8229600" cy="3771900"/>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Access controls provides control over what the user can do at the resource. There are different types of access controls:</a:t>
            </a:r>
          </a:p>
          <a:p>
            <a:pPr marL="742950" marR="0" lvl="1" indent="-285750" algn="l" rtl="0">
              <a:spcBef>
                <a:spcPts val="400"/>
              </a:spcBef>
              <a:spcAft>
                <a:spcPts val="0"/>
              </a:spcAft>
              <a:buClr>
                <a:srgbClr val="2955A6"/>
              </a:buClr>
              <a:buSzPct val="100000"/>
              <a:buFont typeface="Arial"/>
              <a:buChar char="–"/>
            </a:pPr>
            <a:r>
              <a:rPr lang="en-US" sz="2000" b="1" i="0" u="none" strike="noStrike" cap="none">
                <a:solidFill>
                  <a:srgbClr val="2955A6"/>
                </a:solidFill>
                <a:latin typeface="Calibri"/>
                <a:ea typeface="Calibri"/>
                <a:cs typeface="Calibri"/>
                <a:sym typeface="Calibri"/>
              </a:rPr>
              <a:t>Mandatory Access Controls (MAC) </a:t>
            </a:r>
            <a:r>
              <a:rPr lang="en-US" sz="2000" b="0" i="0" u="none" strike="noStrike" cap="none">
                <a:solidFill>
                  <a:srgbClr val="2955A6"/>
                </a:solidFill>
                <a:latin typeface="Calibri"/>
                <a:ea typeface="Calibri"/>
                <a:cs typeface="Calibri"/>
                <a:sym typeface="Calibri"/>
              </a:rPr>
              <a:t>– They strictly control the operation that can be performed against an object. Considered the most rigid.</a:t>
            </a:r>
          </a:p>
          <a:p>
            <a:pPr marL="742950" marR="0" lvl="1" indent="-285750" algn="l" rtl="0">
              <a:spcBef>
                <a:spcPts val="400"/>
              </a:spcBef>
              <a:spcAft>
                <a:spcPts val="0"/>
              </a:spcAft>
              <a:buClr>
                <a:srgbClr val="2955A6"/>
              </a:buClr>
              <a:buSzPct val="100000"/>
              <a:buFont typeface="Arial"/>
              <a:buChar char="–"/>
            </a:pPr>
            <a:r>
              <a:rPr lang="en-US" sz="2000" b="1" i="0" u="none" strike="noStrike" cap="none">
                <a:solidFill>
                  <a:srgbClr val="2955A6"/>
                </a:solidFill>
                <a:latin typeface="Calibri"/>
                <a:ea typeface="Calibri"/>
                <a:cs typeface="Calibri"/>
                <a:sym typeface="Calibri"/>
              </a:rPr>
              <a:t>Discretionary Access Controls (DAC)</a:t>
            </a:r>
            <a:r>
              <a:rPr lang="en-US" sz="2000" b="0" i="0" u="none" strike="noStrike" cap="none">
                <a:solidFill>
                  <a:srgbClr val="2955A6"/>
                </a:solidFill>
                <a:latin typeface="Calibri"/>
                <a:ea typeface="Calibri"/>
                <a:cs typeface="Calibri"/>
                <a:sym typeface="Calibri"/>
              </a:rPr>
              <a:t> – Associated with UNIX and Windows system. The least strict. Object owners can determine the access others have to the object.</a:t>
            </a:r>
          </a:p>
          <a:p>
            <a:pPr marL="742950" marR="0" lvl="1" indent="-285750" algn="l" rtl="0">
              <a:spcBef>
                <a:spcPts val="400"/>
              </a:spcBef>
              <a:buClr>
                <a:srgbClr val="2955A6"/>
              </a:buClr>
              <a:buSzPct val="100000"/>
              <a:buFont typeface="Arial"/>
              <a:buChar char="–"/>
            </a:pPr>
            <a:r>
              <a:rPr lang="en-US" sz="2000" b="1" i="0" u="none" strike="noStrike" cap="none">
                <a:solidFill>
                  <a:srgbClr val="2955A6"/>
                </a:solidFill>
                <a:latin typeface="Calibri"/>
                <a:ea typeface="Calibri"/>
                <a:cs typeface="Calibri"/>
                <a:sym typeface="Calibri"/>
              </a:rPr>
              <a:t>Role-Based Access Controls (RBAC) </a:t>
            </a:r>
            <a:r>
              <a:rPr lang="en-US" sz="2000" b="0" i="0" u="none" strike="noStrike" cap="none">
                <a:solidFill>
                  <a:srgbClr val="2955A6"/>
                </a:solidFill>
                <a:latin typeface="Calibri"/>
                <a:ea typeface="Calibri"/>
                <a:cs typeface="Calibri"/>
                <a:sym typeface="Calibri"/>
              </a:rPr>
              <a:t>– access is determined by the user’s role. For instance, in a Learning Management System, a student can only see his or her data, but a TA can see everyone and a Teacher can modify the controls.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Shape 108"/>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Security Controls</a:t>
            </a:r>
          </a:p>
        </p:txBody>
      </p:sp>
      <p:sp>
        <p:nvSpPr>
          <p:cNvPr id="109" name="Shape 109"/>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Security controls are safeguards or protections (countermeasures) that secure information or information systems. There are several types of security controls that can work together to provide a layered defense. Among these, preventive, deterrent, detective, and corrective controls.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Shape 114"/>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Preventive Controls</a:t>
            </a:r>
          </a:p>
        </p:txBody>
      </p:sp>
      <p:sp>
        <p:nvSpPr>
          <p:cNvPr id="115" name="Shape 115"/>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Preventive controls prevent a risk from happening.  An example of a preventive control is an 8’ fence topped with razor wire.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Shape 120"/>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dirty="0">
                <a:solidFill>
                  <a:srgbClr val="2955A6"/>
                </a:solidFill>
                <a:latin typeface="Calibri"/>
                <a:ea typeface="Calibri"/>
                <a:cs typeface="Calibri"/>
                <a:sym typeface="Calibri"/>
              </a:rPr>
              <a:t>Deterrent Controls</a:t>
            </a:r>
          </a:p>
        </p:txBody>
      </p:sp>
      <p:sp>
        <p:nvSpPr>
          <p:cNvPr id="121" name="Shape 121"/>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buClr>
                <a:srgbClr val="2955A6"/>
              </a:buClr>
              <a:buSzPct val="100000"/>
              <a:buFont typeface="Arial"/>
              <a:buChar char="•"/>
            </a:pPr>
            <a:r>
              <a:rPr lang="en-US" sz="2800" b="0" i="0" u="none" strike="noStrike" cap="none" dirty="0">
                <a:solidFill>
                  <a:srgbClr val="2955A6"/>
                </a:solidFill>
                <a:latin typeface="Calibri"/>
                <a:ea typeface="Calibri"/>
                <a:cs typeface="Calibri"/>
                <a:sym typeface="Calibri"/>
              </a:rPr>
              <a:t>While preventive controls prevent a risk from being actualized, deterrent controls dissuade the attacker.  Using our example of the fence, while an 8’ fence may be a preventive control, </a:t>
            </a:r>
            <a:r>
              <a:rPr lang="en-US" sz="2800" dirty="0">
                <a:solidFill>
                  <a:srgbClr val="2955A6"/>
                </a:solidFill>
                <a:latin typeface="Calibri"/>
                <a:ea typeface="Calibri"/>
                <a:cs typeface="Calibri"/>
                <a:sym typeface="Calibri"/>
              </a:rPr>
              <a:t>motion detection lights that turn on when the attacker crosses into a sensitive area may deter them from continuing.</a:t>
            </a:r>
          </a:p>
          <a:p>
            <a:pPr marL="342900" marR="0" lvl="0" indent="-342900" algn="l" rtl="0">
              <a:spcBef>
                <a:spcPts val="0"/>
              </a:spcBef>
              <a:buClr>
                <a:srgbClr val="2955A6"/>
              </a:buClr>
              <a:buSzPct val="100000"/>
              <a:buFont typeface="Arial"/>
              <a:buChar char="•"/>
            </a:pPr>
            <a:r>
              <a:rPr lang="en-US" sz="2800" b="0" i="0" u="none" strike="noStrike" cap="none" dirty="0">
                <a:solidFill>
                  <a:srgbClr val="2955A6"/>
                </a:solidFill>
                <a:latin typeface="Calibri"/>
                <a:ea typeface="Calibri"/>
                <a:cs typeface="Calibri"/>
                <a:sym typeface="Calibri"/>
              </a:rPr>
              <a:t>Difference between </a:t>
            </a:r>
            <a:r>
              <a:rPr lang="en-US" sz="2800" b="1" i="1" u="none" strike="noStrike" cap="none" dirty="0">
                <a:solidFill>
                  <a:srgbClr val="2955A6"/>
                </a:solidFill>
                <a:latin typeface="Calibri"/>
                <a:ea typeface="Calibri"/>
                <a:cs typeface="Calibri"/>
                <a:sym typeface="Calibri"/>
              </a:rPr>
              <a:t>preventing</a:t>
            </a:r>
            <a:r>
              <a:rPr lang="en-US" sz="2800" u="none" strike="noStrike" cap="none" dirty="0">
                <a:solidFill>
                  <a:srgbClr val="2955A6"/>
                </a:solidFill>
                <a:latin typeface="Calibri"/>
                <a:ea typeface="Calibri"/>
                <a:cs typeface="Calibri"/>
                <a:sym typeface="Calibri"/>
              </a:rPr>
              <a:t> and </a:t>
            </a:r>
            <a:r>
              <a:rPr lang="en-US" sz="2800" b="1" i="1" dirty="0">
                <a:solidFill>
                  <a:srgbClr val="2955A6"/>
                </a:solidFill>
                <a:latin typeface="Calibri"/>
                <a:ea typeface="Calibri"/>
                <a:cs typeface="Calibri"/>
                <a:sym typeface="Calibri"/>
              </a:rPr>
              <a:t>dissuading.</a:t>
            </a:r>
            <a:endParaRPr lang="en-US" sz="2800" b="0" i="0" u="none" strike="noStrike" cap="none" dirty="0">
              <a:solidFill>
                <a:srgbClr val="2955A6"/>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Shape 126"/>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Corrective Controls</a:t>
            </a:r>
          </a:p>
        </p:txBody>
      </p:sp>
      <p:sp>
        <p:nvSpPr>
          <p:cNvPr id="127" name="Shape 127"/>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Security controls will fail. At that point, we will need to rely on corrective controls.  When combined with other controls, corrective controls provide a successful strategy for mitigating risks.</a:t>
            </a:r>
          </a:p>
          <a:p>
            <a:pPr marL="342900" marR="0" lvl="0" indent="-342900" algn="l" rtl="0">
              <a:spcBef>
                <a:spcPts val="56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An example of a corrective control are data backups.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Shape 132"/>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Putting it All Together</a:t>
            </a:r>
          </a:p>
        </p:txBody>
      </p:sp>
      <p:sp>
        <p:nvSpPr>
          <p:cNvPr id="133" name="Shape 133"/>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dirty="0">
                <a:solidFill>
                  <a:srgbClr val="2955A6"/>
                </a:solidFill>
                <a:latin typeface="Calibri"/>
                <a:ea typeface="Calibri"/>
                <a:cs typeface="Calibri"/>
                <a:sym typeface="Calibri"/>
              </a:rPr>
              <a:t>As a part of a layered defense approach, security controls should be combined. </a:t>
            </a:r>
            <a:r>
              <a:rPr lang="en-US" sz="2400" b="0" i="0" u="none" strike="noStrike" cap="none">
                <a:solidFill>
                  <a:srgbClr val="2955A6"/>
                </a:solidFill>
                <a:latin typeface="Calibri"/>
                <a:ea typeface="Calibri"/>
                <a:cs typeface="Calibri"/>
                <a:sym typeface="Calibri"/>
              </a:rPr>
              <a:t>For example, when implementing physical security controls to secure a data center you might implement the following:</a:t>
            </a:r>
          </a:p>
          <a:p>
            <a:pPr marL="342900" marR="0" lvl="0" indent="-342900" algn="l" rtl="0">
              <a:spcBef>
                <a:spcPts val="480"/>
              </a:spcBef>
              <a:spcAft>
                <a:spcPts val="0"/>
              </a:spcAft>
              <a:buClr>
                <a:srgbClr val="2955A6"/>
              </a:buClr>
              <a:buSzPct val="100000"/>
              <a:buFont typeface="Arial"/>
              <a:buNone/>
            </a:pPr>
            <a:endParaRPr sz="2400" b="0" i="0" u="none" strike="noStrike" cap="none" dirty="0">
              <a:solidFill>
                <a:srgbClr val="2955A6"/>
              </a:solidFill>
              <a:latin typeface="Calibri"/>
              <a:ea typeface="Calibri"/>
              <a:cs typeface="Calibri"/>
              <a:sym typeface="Calibri"/>
            </a:endParaRPr>
          </a:p>
          <a:p>
            <a:pPr marL="0" marR="0" lvl="0" indent="0" algn="l" rtl="0">
              <a:spcBef>
                <a:spcPts val="480"/>
              </a:spcBef>
              <a:spcAft>
                <a:spcPts val="0"/>
              </a:spcAft>
              <a:buClr>
                <a:srgbClr val="2955A6"/>
              </a:buClr>
              <a:buSzPct val="25000"/>
              <a:buFont typeface="Arial"/>
              <a:buNone/>
            </a:pPr>
            <a:endParaRPr sz="2400" b="0" i="0" u="none" strike="noStrike" cap="none" dirty="0">
              <a:solidFill>
                <a:srgbClr val="2955A6"/>
              </a:solidFill>
              <a:latin typeface="Calibri"/>
              <a:ea typeface="Calibri"/>
              <a:cs typeface="Calibri"/>
              <a:sym typeface="Calibri"/>
            </a:endParaRPr>
          </a:p>
          <a:p>
            <a:pPr marL="742950" marR="0" lvl="1" indent="-285750" algn="l" rtl="0">
              <a:spcBef>
                <a:spcPts val="480"/>
              </a:spcBef>
              <a:spcAft>
                <a:spcPts val="0"/>
              </a:spcAft>
              <a:buClr>
                <a:srgbClr val="2955A6"/>
              </a:buClr>
              <a:buSzPct val="100000"/>
              <a:buFont typeface="Arial"/>
              <a:buNone/>
            </a:pPr>
            <a:endParaRPr sz="2400" b="0" i="0" u="none" strike="noStrike" cap="none" dirty="0">
              <a:solidFill>
                <a:srgbClr val="2955A6"/>
              </a:solidFill>
              <a:latin typeface="Calibri"/>
              <a:ea typeface="Calibri"/>
              <a:cs typeface="Calibri"/>
              <a:sym typeface="Calibri"/>
            </a:endParaRPr>
          </a:p>
          <a:p>
            <a:pPr marL="742950" marR="0" lvl="1" indent="-285750" algn="l" rtl="0">
              <a:spcBef>
                <a:spcPts val="480"/>
              </a:spcBef>
              <a:spcAft>
                <a:spcPts val="0"/>
              </a:spcAft>
              <a:buClr>
                <a:srgbClr val="2955A6"/>
              </a:buClr>
              <a:buSzPct val="100000"/>
              <a:buFont typeface="Arial"/>
              <a:buNone/>
            </a:pPr>
            <a:endParaRPr sz="2400" b="0" i="0" u="none" strike="noStrike" cap="none" dirty="0">
              <a:solidFill>
                <a:srgbClr val="2955A6"/>
              </a:solidFill>
              <a:latin typeface="Calibri"/>
              <a:ea typeface="Calibri"/>
              <a:cs typeface="Calibri"/>
              <a:sym typeface="Calibri"/>
            </a:endParaRPr>
          </a:p>
          <a:p>
            <a:pPr marL="342900" marR="0" lvl="0" indent="-342900" algn="l" rtl="0">
              <a:spcBef>
                <a:spcPts val="560"/>
              </a:spcBef>
              <a:buClr>
                <a:srgbClr val="2955A6"/>
              </a:buClr>
              <a:buSzPct val="100000"/>
              <a:buFont typeface="Arial"/>
              <a:buNone/>
            </a:pPr>
            <a:endParaRPr sz="2800" b="0" i="0" u="none" strike="noStrike" cap="none" dirty="0">
              <a:solidFill>
                <a:srgbClr val="2955A6"/>
              </a:solidFill>
              <a:latin typeface="Calibri"/>
              <a:ea typeface="Calibri"/>
              <a:cs typeface="Calibri"/>
              <a:sym typeface="Calibri"/>
            </a:endParaRPr>
          </a:p>
        </p:txBody>
      </p:sp>
      <p:graphicFrame>
        <p:nvGraphicFramePr>
          <p:cNvPr id="134" name="Shape 134"/>
          <p:cNvGraphicFramePr/>
          <p:nvPr>
            <p:extLst>
              <p:ext uri="{D42A27DB-BD31-4B8C-83A1-F6EECF244321}">
                <p14:modId xmlns:p14="http://schemas.microsoft.com/office/powerpoint/2010/main" val="2364523217"/>
              </p:ext>
            </p:extLst>
          </p:nvPr>
        </p:nvGraphicFramePr>
        <p:xfrm>
          <a:off x="895350" y="3429000"/>
          <a:ext cx="7620000" cy="2194590"/>
        </p:xfrm>
        <a:graphic>
          <a:graphicData uri="http://schemas.openxmlformats.org/drawingml/2006/table">
            <a:tbl>
              <a:tblPr>
                <a:noFill/>
                <a:tableStyleId>{D52911D4-2BDC-4270-955D-098F59077DC9}</a:tableStyleId>
              </a:tblPr>
              <a:tblGrid>
                <a:gridCol w="2057400">
                  <a:extLst>
                    <a:ext uri="{9D8B030D-6E8A-4147-A177-3AD203B41FA5}">
                      <a16:colId xmlns:a16="http://schemas.microsoft.com/office/drawing/2014/main" val="20000"/>
                    </a:ext>
                  </a:extLst>
                </a:gridCol>
                <a:gridCol w="5562600">
                  <a:extLst>
                    <a:ext uri="{9D8B030D-6E8A-4147-A177-3AD203B41FA5}">
                      <a16:colId xmlns:a16="http://schemas.microsoft.com/office/drawing/2014/main" val="20001"/>
                    </a:ext>
                  </a:extLst>
                </a:gridCol>
              </a:tblGrid>
              <a:tr h="370850">
                <a:tc>
                  <a:txBody>
                    <a:bodyPr/>
                    <a:lstStyle/>
                    <a:p>
                      <a:pPr marL="0" marR="0" lvl="0" indent="0" algn="l" defTabSz="685800" rtl="0" eaLnBrk="1" fontAlgn="auto" latinLnBrk="0" hangingPunct="1">
                        <a:lnSpc>
                          <a:spcPct val="100000"/>
                        </a:lnSpc>
                        <a:spcBef>
                          <a:spcPts val="0"/>
                        </a:spcBef>
                        <a:spcAft>
                          <a:spcPts val="0"/>
                        </a:spcAft>
                        <a:buClrTx/>
                        <a:buSzPct val="25000"/>
                        <a:buFontTx/>
                        <a:buNone/>
                        <a:tabLst/>
                        <a:defRPr/>
                      </a:pPr>
                      <a:r>
                        <a:rPr lang="en-US" sz="1800" b="1" dirty="0">
                          <a:solidFill>
                            <a:srgbClr val="2955A6"/>
                          </a:solidFill>
                          <a:latin typeface="+mn-lt"/>
                          <a:ea typeface="Calibri"/>
                          <a:cs typeface="Calibri"/>
                          <a:sym typeface="Calibri"/>
                        </a:rPr>
                        <a:t>Deterrent control</a:t>
                      </a:r>
                    </a:p>
                    <a:p>
                      <a:pPr marL="0" marR="0" lvl="0" indent="0" algn="l" rtl="0">
                        <a:spcBef>
                          <a:spcPts val="0"/>
                        </a:spcBef>
                        <a:buSzPct val="25000"/>
                        <a:buNone/>
                      </a:pPr>
                      <a:endParaRPr lang="en-US" sz="1800" b="1" u="none" strike="noStrike" cap="none" dirty="0">
                        <a:solidFill>
                          <a:srgbClr val="2955A6"/>
                        </a:solidFill>
                        <a:latin typeface="Calibri"/>
                        <a:ea typeface="Calibri"/>
                        <a:cs typeface="Calibri"/>
                        <a:sym typeface="Calibri"/>
                      </a:endParaRPr>
                    </a:p>
                  </a:txBody>
                  <a:tcPr marL="91450" marR="91450" marT="45725" marB="45725"/>
                </a:tc>
                <a:tc>
                  <a:txBody>
                    <a:bodyPr/>
                    <a:lstStyle/>
                    <a:p>
                      <a:pPr marL="0" marR="0" lvl="0" indent="0" algn="l" defTabSz="685800" rtl="0" eaLnBrk="1" fontAlgn="auto" latinLnBrk="0" hangingPunct="1">
                        <a:lnSpc>
                          <a:spcPct val="100000"/>
                        </a:lnSpc>
                        <a:spcBef>
                          <a:spcPts val="0"/>
                        </a:spcBef>
                        <a:spcAft>
                          <a:spcPts val="0"/>
                        </a:spcAft>
                        <a:buClrTx/>
                        <a:buSzPct val="25000"/>
                        <a:buFontTx/>
                        <a:buNone/>
                        <a:tabLst/>
                        <a:defRPr/>
                      </a:pPr>
                      <a:r>
                        <a:rPr lang="en-US" sz="1800" dirty="0">
                          <a:solidFill>
                            <a:srgbClr val="2955A6"/>
                          </a:solidFill>
                          <a:latin typeface="+mn-lt"/>
                          <a:ea typeface="Calibri"/>
                          <a:cs typeface="Calibri"/>
                          <a:sym typeface="Calibri"/>
                        </a:rPr>
                        <a:t>Posting signs that this area is monitored by security cameras along with visible security cameras.  Another example is motion-sensing lights.</a:t>
                      </a:r>
                    </a:p>
                  </a:txBody>
                  <a:tcPr marL="91450" marR="91450" marT="45725" marB="45725"/>
                </a:tc>
                <a:extLst>
                  <a:ext uri="{0D108BD9-81ED-4DB2-BD59-A6C34878D82A}">
                    <a16:rowId xmlns:a16="http://schemas.microsoft.com/office/drawing/2014/main" val="10000"/>
                  </a:ext>
                </a:extLst>
              </a:tr>
              <a:tr h="370850">
                <a:tc>
                  <a:txBody>
                    <a:bodyPr/>
                    <a:lstStyle/>
                    <a:p>
                      <a:pPr marL="0" marR="0" lvl="0" indent="0" algn="l" defTabSz="685800" rtl="0" eaLnBrk="1" fontAlgn="auto" latinLnBrk="0" hangingPunct="1">
                        <a:lnSpc>
                          <a:spcPct val="100000"/>
                        </a:lnSpc>
                        <a:spcBef>
                          <a:spcPts val="0"/>
                        </a:spcBef>
                        <a:spcAft>
                          <a:spcPts val="0"/>
                        </a:spcAft>
                        <a:buClrTx/>
                        <a:buSzPct val="25000"/>
                        <a:buFontTx/>
                        <a:buNone/>
                        <a:tabLst/>
                        <a:defRPr/>
                      </a:pPr>
                      <a:r>
                        <a:rPr lang="en-US" sz="1800" b="1" u="none" strike="noStrike" cap="none" dirty="0">
                          <a:solidFill>
                            <a:srgbClr val="2955A6"/>
                          </a:solidFill>
                          <a:latin typeface="+mn-lt"/>
                          <a:ea typeface="Calibri"/>
                          <a:cs typeface="Calibri"/>
                          <a:sym typeface="Calibri"/>
                        </a:rPr>
                        <a:t>Preventive control</a:t>
                      </a:r>
                    </a:p>
                    <a:p>
                      <a:pPr marL="0" marR="0" lvl="0" indent="0" algn="l" rtl="0">
                        <a:spcBef>
                          <a:spcPts val="0"/>
                        </a:spcBef>
                        <a:buSzPct val="25000"/>
                        <a:buNone/>
                      </a:pPr>
                      <a:endParaRPr lang="en-US" sz="1800" b="1" dirty="0">
                        <a:solidFill>
                          <a:srgbClr val="2955A6"/>
                        </a:solidFill>
                        <a:latin typeface="Calibri"/>
                        <a:ea typeface="Calibri"/>
                        <a:cs typeface="Calibri"/>
                        <a:sym typeface="Calibri"/>
                      </a:endParaRPr>
                    </a:p>
                  </a:txBody>
                  <a:tcPr marL="91450" marR="91450" marT="45725" marB="45725"/>
                </a:tc>
                <a:tc>
                  <a:txBody>
                    <a:bodyPr/>
                    <a:lstStyle/>
                    <a:p>
                      <a:pPr marL="0" marR="0" lvl="0" indent="0" algn="l" defTabSz="685800" rtl="0" eaLnBrk="1" fontAlgn="auto" latinLnBrk="0" hangingPunct="1">
                        <a:lnSpc>
                          <a:spcPct val="100000"/>
                        </a:lnSpc>
                        <a:spcBef>
                          <a:spcPts val="0"/>
                        </a:spcBef>
                        <a:spcAft>
                          <a:spcPts val="0"/>
                        </a:spcAft>
                        <a:buClr>
                          <a:srgbClr val="2955A6"/>
                        </a:buClr>
                        <a:buSzPct val="25000"/>
                        <a:buFont typeface="Calibri"/>
                        <a:buNone/>
                        <a:tabLst/>
                        <a:defRPr/>
                      </a:pPr>
                      <a:r>
                        <a:rPr lang="en-US" sz="1800" dirty="0">
                          <a:solidFill>
                            <a:srgbClr val="2955A6"/>
                          </a:solidFill>
                          <a:latin typeface="+mn-lt"/>
                          <a:ea typeface="Calibri"/>
                          <a:cs typeface="Calibri"/>
                          <a:sym typeface="Calibri"/>
                        </a:rPr>
                        <a:t>Door locks on the data center doors that are actually locked.</a:t>
                      </a:r>
                    </a:p>
                  </a:txBody>
                  <a:tcPr marL="91450" marR="91450" marT="45725" marB="45725"/>
                </a:tc>
                <a:extLst>
                  <a:ext uri="{0D108BD9-81ED-4DB2-BD59-A6C34878D82A}">
                    <a16:rowId xmlns:a16="http://schemas.microsoft.com/office/drawing/2014/main" val="10001"/>
                  </a:ext>
                </a:extLst>
              </a:tr>
              <a:tr h="370850">
                <a:tc>
                  <a:txBody>
                    <a:bodyPr/>
                    <a:lstStyle/>
                    <a:p>
                      <a:pPr marL="0" marR="0" lvl="0" indent="0" algn="l" rtl="0">
                        <a:spcBef>
                          <a:spcPts val="0"/>
                        </a:spcBef>
                        <a:buSzPct val="25000"/>
                        <a:buNone/>
                      </a:pPr>
                      <a:r>
                        <a:rPr lang="en-US" sz="1800" b="1">
                          <a:solidFill>
                            <a:srgbClr val="2955A6"/>
                          </a:solidFill>
                          <a:latin typeface="Calibri"/>
                          <a:ea typeface="Calibri"/>
                          <a:cs typeface="Calibri"/>
                          <a:sym typeface="Calibri"/>
                        </a:rPr>
                        <a:t>Corrective control</a:t>
                      </a:r>
                    </a:p>
                  </a:txBody>
                  <a:tcPr marL="91450" marR="91450" marT="45725" marB="45725"/>
                </a:tc>
                <a:tc>
                  <a:txBody>
                    <a:bodyPr/>
                    <a:lstStyle/>
                    <a:p>
                      <a:pPr marL="0" marR="0" lvl="0" indent="0" algn="l" rtl="0">
                        <a:lnSpc>
                          <a:spcPct val="100000"/>
                        </a:lnSpc>
                        <a:spcBef>
                          <a:spcPts val="0"/>
                        </a:spcBef>
                        <a:spcAft>
                          <a:spcPts val="0"/>
                        </a:spcAft>
                        <a:buClr>
                          <a:srgbClr val="2955A6"/>
                        </a:buClr>
                        <a:buSzPct val="25000"/>
                        <a:buFont typeface="Calibri"/>
                        <a:buNone/>
                      </a:pPr>
                      <a:r>
                        <a:rPr lang="en-US" sz="1800" dirty="0">
                          <a:solidFill>
                            <a:srgbClr val="2955A6"/>
                          </a:solidFill>
                          <a:latin typeface="Calibri"/>
                          <a:ea typeface="Calibri"/>
                          <a:cs typeface="Calibri"/>
                          <a:sym typeface="Calibri"/>
                        </a:rPr>
                        <a:t>A security guard arrives on site in response to the alarm to secure the room.</a:t>
                      </a:r>
                    </a:p>
                  </a:txBody>
                  <a:tcPr marL="91450" marR="91450" marT="45725" marB="45725"/>
                </a:tc>
                <a:extLst>
                  <a:ext uri="{0D108BD9-81ED-4DB2-BD59-A6C34878D82A}">
                    <a16:rowId xmlns:a16="http://schemas.microsoft.com/office/drawing/2014/main" val="10002"/>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Shape 139"/>
          <p:cNvSpPr/>
          <p:nvPr/>
        </p:nvSpPr>
        <p:spPr>
          <a:xfrm>
            <a:off x="5383875" y="3070975"/>
            <a:ext cx="3775800" cy="3117600"/>
          </a:xfrm>
          <a:prstGeom prst="ellipse">
            <a:avLst/>
          </a:prstGeom>
          <a:gradFill>
            <a:gsLst>
              <a:gs pos="0">
                <a:srgbClr val="92A0D6">
                  <a:alpha val="0"/>
                </a:srgbClr>
              </a:gs>
              <a:gs pos="92000">
                <a:srgbClr val="BCC4E4">
                  <a:alpha val="23921"/>
                </a:srgbClr>
              </a:gs>
              <a:gs pos="100000">
                <a:srgbClr val="DEE3F1"/>
              </a:gs>
            </a:gsLst>
            <a:lin ang="16200000" scaled="0"/>
          </a:gradFill>
          <a:ln w="25400" cap="flat" cmpd="sng">
            <a:solidFill>
              <a:srgbClr val="1D3E79"/>
            </a:solidFill>
            <a:prstDash val="solid"/>
            <a:round/>
            <a:headEnd type="none" w="med" len="med"/>
            <a:tailEnd type="none" w="med" len="med"/>
          </a:ln>
        </p:spPr>
        <p:txBody>
          <a:bodyPr lIns="91425" tIns="45700" rIns="91425" bIns="45700" anchor="ctr" anchorCtr="0">
            <a:noAutofit/>
          </a:bodyPr>
          <a:lstStyle/>
          <a:p>
            <a:pPr marL="0" marR="0" lvl="0" indent="0" algn="ctr" rtl="0">
              <a:lnSpc>
                <a:spcPct val="100000"/>
              </a:lnSpc>
              <a:spcBef>
                <a:spcPts val="0"/>
              </a:spcBef>
              <a:spcAft>
                <a:spcPts val="0"/>
              </a:spcAft>
              <a:buClr>
                <a:schemeClr val="dk1"/>
              </a:buClr>
              <a:buSzPct val="25000"/>
              <a:buFont typeface="Arial"/>
              <a:buNone/>
            </a:pPr>
            <a:r>
              <a:rPr lang="en-US" sz="2400" b="1" i="0" u="none" strike="noStrike" cap="none">
                <a:solidFill>
                  <a:schemeClr val="dk1"/>
                </a:solidFill>
                <a:latin typeface="Arial"/>
                <a:ea typeface="Arial"/>
                <a:cs typeface="Arial"/>
                <a:sym typeface="Arial"/>
              </a:rPr>
              <a:t>People/Process</a:t>
            </a:r>
          </a:p>
          <a:p>
            <a:pPr marL="0" marR="0" lvl="0" indent="0" algn="ctr" rtl="0">
              <a:lnSpc>
                <a:spcPct val="100000"/>
              </a:lnSpc>
              <a:spcBef>
                <a:spcPts val="0"/>
              </a:spcBef>
              <a:spcAft>
                <a:spcPts val="0"/>
              </a:spcAft>
              <a:buClr>
                <a:srgbClr val="000000"/>
              </a:buClr>
              <a:buFont typeface="Arial"/>
              <a:buNone/>
            </a:pPr>
            <a:endParaRPr sz="2400" b="1" i="0" u="none" strike="noStrike" cap="none">
              <a:solidFill>
                <a:schemeClr val="dk1"/>
              </a:solidFill>
              <a:latin typeface="Arial"/>
              <a:ea typeface="Arial"/>
              <a:cs typeface="Arial"/>
              <a:sym typeface="Arial"/>
            </a:endParaRPr>
          </a:p>
          <a:p>
            <a:pPr marL="0" marR="0" lvl="0" indent="0" algn="ctr" rtl="0">
              <a:lnSpc>
                <a:spcPct val="100000"/>
              </a:lnSpc>
              <a:spcBef>
                <a:spcPts val="0"/>
              </a:spcBef>
              <a:spcAft>
                <a:spcPts val="0"/>
              </a:spcAft>
              <a:buClr>
                <a:srgbClr val="000000"/>
              </a:buClr>
              <a:buFont typeface="Arial"/>
              <a:buNone/>
            </a:pPr>
            <a:endParaRPr sz="2400" b="1" i="0" u="none" strike="noStrike" cap="none">
              <a:solidFill>
                <a:schemeClr val="dk1"/>
              </a:solidFill>
              <a:latin typeface="Arial"/>
              <a:ea typeface="Arial"/>
              <a:cs typeface="Arial"/>
              <a:sym typeface="Arial"/>
            </a:endParaRPr>
          </a:p>
          <a:p>
            <a:pPr marL="0" marR="0" lvl="0" indent="0" algn="ctr" rtl="0">
              <a:lnSpc>
                <a:spcPct val="100000"/>
              </a:lnSpc>
              <a:spcBef>
                <a:spcPts val="0"/>
              </a:spcBef>
              <a:spcAft>
                <a:spcPts val="0"/>
              </a:spcAft>
              <a:buClr>
                <a:srgbClr val="000000"/>
              </a:buClr>
              <a:buFont typeface="Arial"/>
              <a:buNone/>
            </a:pPr>
            <a:endParaRPr sz="2400" b="1" i="0" u="none" strike="noStrike" cap="none">
              <a:solidFill>
                <a:schemeClr val="dk1"/>
              </a:solidFill>
              <a:latin typeface="Arial"/>
              <a:ea typeface="Arial"/>
              <a:cs typeface="Arial"/>
              <a:sym typeface="Arial"/>
            </a:endParaRPr>
          </a:p>
          <a:p>
            <a:pPr marL="0" marR="0" lvl="0" indent="0" algn="ctr" rtl="0">
              <a:lnSpc>
                <a:spcPct val="100000"/>
              </a:lnSpc>
              <a:spcBef>
                <a:spcPts val="0"/>
              </a:spcBef>
              <a:spcAft>
                <a:spcPts val="0"/>
              </a:spcAft>
              <a:buClr>
                <a:srgbClr val="000000"/>
              </a:buClr>
              <a:buFont typeface="Arial"/>
              <a:buNone/>
            </a:pPr>
            <a:endParaRPr sz="2400" b="1" i="0" u="none" strike="noStrike" cap="none">
              <a:solidFill>
                <a:schemeClr val="dk1"/>
              </a:solidFill>
              <a:latin typeface="Arial"/>
              <a:ea typeface="Arial"/>
              <a:cs typeface="Arial"/>
              <a:sym typeface="Arial"/>
            </a:endParaRPr>
          </a:p>
          <a:p>
            <a:pPr marL="0" marR="0" lvl="0" indent="0" algn="ctr" rtl="0">
              <a:lnSpc>
                <a:spcPct val="100000"/>
              </a:lnSpc>
              <a:spcBef>
                <a:spcPts val="0"/>
              </a:spcBef>
              <a:spcAft>
                <a:spcPts val="0"/>
              </a:spcAft>
              <a:buClr>
                <a:srgbClr val="000000"/>
              </a:buClr>
              <a:buFont typeface="Arial"/>
              <a:buNone/>
            </a:pPr>
            <a:endParaRPr sz="2400" b="1" i="0" u="none" strike="noStrike" cap="none">
              <a:solidFill>
                <a:schemeClr val="dk1"/>
              </a:solidFill>
              <a:latin typeface="Arial"/>
              <a:ea typeface="Arial"/>
              <a:cs typeface="Arial"/>
              <a:sym typeface="Arial"/>
            </a:endParaRPr>
          </a:p>
        </p:txBody>
      </p:sp>
      <p:sp>
        <p:nvSpPr>
          <p:cNvPr id="140" name="Shape 140"/>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Defense-in-Depth</a:t>
            </a:r>
          </a:p>
        </p:txBody>
      </p:sp>
      <p:sp>
        <p:nvSpPr>
          <p:cNvPr id="144" name="Shape 144"/>
          <p:cNvSpPr txBox="1">
            <a:spLocks noGrp="1"/>
          </p:cNvSpPr>
          <p:nvPr>
            <p:ph sz="half" idx="1"/>
          </p:nvPr>
        </p:nvSpPr>
        <p:spPr>
          <a:xfrm>
            <a:off x="457200" y="1598400"/>
            <a:ext cx="4860300" cy="4526100"/>
          </a:xfrm>
          <a:prstGeom prst="rect">
            <a:avLst/>
          </a:prstGeom>
          <a:noFill/>
          <a:ln>
            <a:noFill/>
          </a:ln>
        </p:spPr>
        <p:txBody>
          <a:bodyPr lIns="91425" tIns="45700" rIns="91425" bIns="45700" anchor="t" anchorCtr="0">
            <a:noAutofit/>
          </a:bodyPr>
          <a:lstStyle/>
          <a:p>
            <a:pPr marL="342900" marR="0" lvl="0" indent="-330200" algn="l" rtl="0">
              <a:spcBef>
                <a:spcPts val="0"/>
              </a:spcBef>
              <a:spcAft>
                <a:spcPts val="0"/>
              </a:spcAft>
              <a:buClr>
                <a:srgbClr val="2955A6"/>
              </a:buClr>
              <a:buSzPct val="100000"/>
              <a:buFont typeface="Arial"/>
              <a:buChar char="•"/>
            </a:pPr>
            <a:r>
              <a:rPr lang="en-US" sz="2600" b="0" i="0" u="none" strike="noStrike" cap="none">
                <a:solidFill>
                  <a:srgbClr val="2955A6"/>
                </a:solidFill>
                <a:latin typeface="Calibri"/>
                <a:ea typeface="Calibri"/>
                <a:cs typeface="Calibri"/>
                <a:sym typeface="Calibri"/>
              </a:rPr>
              <a:t>The concept of “defense-in-depth” is of military strategy origins, where multiple controls at different layers are implemented to secure the asset, so that when one layer fails, other controls are still in effect to mitigate the risk. These controls are generally implemented in hardware, software, and people.</a:t>
            </a:r>
          </a:p>
          <a:p>
            <a:pPr marL="742950" marR="0" lvl="1" indent="-285750" algn="l" rtl="0">
              <a:spcBef>
                <a:spcPts val="480"/>
              </a:spcBef>
              <a:buClr>
                <a:srgbClr val="2955A6"/>
              </a:buClr>
              <a:buSzPct val="100000"/>
              <a:buFont typeface="Arial"/>
              <a:buNone/>
            </a:pPr>
            <a:endParaRPr sz="2400" b="0" i="0" u="none" strike="noStrike" cap="none">
              <a:solidFill>
                <a:srgbClr val="2955A6"/>
              </a:solidFill>
              <a:latin typeface="Calibri"/>
              <a:ea typeface="Calibri"/>
              <a:cs typeface="Calibri"/>
              <a:sym typeface="Calibri"/>
            </a:endParaRPr>
          </a:p>
        </p:txBody>
      </p:sp>
      <p:sp>
        <p:nvSpPr>
          <p:cNvPr id="141" name="Shape 141"/>
          <p:cNvSpPr/>
          <p:nvPr/>
        </p:nvSpPr>
        <p:spPr>
          <a:xfrm>
            <a:off x="6734175" y="5328300"/>
            <a:ext cx="1075200" cy="796200"/>
          </a:xfrm>
          <a:prstGeom prst="ellipse">
            <a:avLst/>
          </a:prstGeom>
          <a:solidFill>
            <a:srgbClr val="538CD5"/>
          </a:solidFill>
          <a:ln w="25400" cap="flat" cmpd="sng">
            <a:solidFill>
              <a:srgbClr val="1D3E79"/>
            </a:solidFill>
            <a:prstDash val="solid"/>
            <a:round/>
            <a:headEnd type="none" w="med" len="med"/>
            <a:tailEnd type="none" w="med" len="med"/>
          </a:ln>
        </p:spPr>
        <p:txBody>
          <a:bodyPr lIns="91425" tIns="45700" rIns="91425" bIns="45700" anchor="ctr" anchorCtr="0">
            <a:noAutofit/>
          </a:bodyPr>
          <a:lstStyle/>
          <a:p>
            <a:pPr marL="0" marR="0" lvl="0" indent="0" algn="ctr" rtl="0">
              <a:lnSpc>
                <a:spcPct val="100000"/>
              </a:lnSpc>
              <a:spcBef>
                <a:spcPts val="0"/>
              </a:spcBef>
              <a:spcAft>
                <a:spcPts val="0"/>
              </a:spcAft>
              <a:buClr>
                <a:schemeClr val="lt1"/>
              </a:buClr>
              <a:buSzPct val="25000"/>
              <a:buFont typeface="Arial"/>
              <a:buNone/>
            </a:pPr>
            <a:r>
              <a:rPr lang="en-US" sz="1800" b="1" i="0" u="none" strike="noStrike" cap="none">
                <a:solidFill>
                  <a:schemeClr val="lt1"/>
                </a:solidFill>
                <a:latin typeface="Arial"/>
                <a:ea typeface="Arial"/>
                <a:cs typeface="Arial"/>
                <a:sym typeface="Arial"/>
              </a:rPr>
              <a:t>Data</a:t>
            </a:r>
          </a:p>
        </p:txBody>
      </p:sp>
      <p:sp>
        <p:nvSpPr>
          <p:cNvPr id="142" name="Shape 142"/>
          <p:cNvSpPr/>
          <p:nvPr/>
        </p:nvSpPr>
        <p:spPr>
          <a:xfrm>
            <a:off x="5760683" y="4100875"/>
            <a:ext cx="3022200" cy="2087700"/>
          </a:xfrm>
          <a:prstGeom prst="ellipse">
            <a:avLst/>
          </a:prstGeom>
          <a:gradFill>
            <a:gsLst>
              <a:gs pos="0">
                <a:srgbClr val="92A0D6">
                  <a:alpha val="0"/>
                </a:srgbClr>
              </a:gs>
              <a:gs pos="92000">
                <a:srgbClr val="BCC4E4">
                  <a:alpha val="23921"/>
                </a:srgbClr>
              </a:gs>
              <a:gs pos="100000">
                <a:srgbClr val="DEE3F1"/>
              </a:gs>
            </a:gsLst>
            <a:lin ang="16200000" scaled="0"/>
          </a:gradFill>
          <a:ln w="25400" cap="flat" cmpd="sng">
            <a:solidFill>
              <a:srgbClr val="1D3E79"/>
            </a:solidFill>
            <a:prstDash val="solid"/>
            <a:round/>
            <a:headEnd type="none" w="med" len="med"/>
            <a:tailEnd type="none" w="med" len="med"/>
          </a:ln>
        </p:spPr>
        <p:txBody>
          <a:bodyPr lIns="91425" tIns="45700" rIns="91425" bIns="45700" anchor="ctr" anchorCtr="0">
            <a:noAutofit/>
          </a:bodyPr>
          <a:lstStyle/>
          <a:p>
            <a:pPr marL="0" marR="0" lvl="0" indent="0" algn="ctr" rtl="0">
              <a:lnSpc>
                <a:spcPct val="100000"/>
              </a:lnSpc>
              <a:spcBef>
                <a:spcPts val="0"/>
              </a:spcBef>
              <a:spcAft>
                <a:spcPts val="0"/>
              </a:spcAft>
              <a:buClr>
                <a:schemeClr val="dk1"/>
              </a:buClr>
              <a:buSzPct val="25000"/>
              <a:buFont typeface="Arial"/>
              <a:buNone/>
            </a:pPr>
            <a:r>
              <a:rPr lang="en-US" sz="2400" b="1" i="0" u="none" strike="noStrike" cap="none">
                <a:solidFill>
                  <a:schemeClr val="dk1"/>
                </a:solidFill>
                <a:latin typeface="Arial"/>
                <a:ea typeface="Arial"/>
                <a:cs typeface="Arial"/>
                <a:sym typeface="Arial"/>
              </a:rPr>
              <a:t>Software</a:t>
            </a:r>
          </a:p>
          <a:p>
            <a:pPr marL="0" marR="0" lvl="0" indent="0" algn="ctr" rtl="0">
              <a:lnSpc>
                <a:spcPct val="100000"/>
              </a:lnSpc>
              <a:spcBef>
                <a:spcPts val="0"/>
              </a:spcBef>
              <a:spcAft>
                <a:spcPts val="0"/>
              </a:spcAft>
              <a:buClr>
                <a:srgbClr val="000000"/>
              </a:buClr>
              <a:buFont typeface="Arial"/>
              <a:buNone/>
            </a:pPr>
            <a:endParaRPr sz="2400" b="1" i="0" u="none" strike="noStrike" cap="none">
              <a:solidFill>
                <a:schemeClr val="dk1"/>
              </a:solidFill>
              <a:latin typeface="Arial"/>
              <a:ea typeface="Arial"/>
              <a:cs typeface="Arial"/>
              <a:sym typeface="Arial"/>
            </a:endParaRPr>
          </a:p>
          <a:p>
            <a:pPr marL="0" marR="0" lvl="0" indent="0" algn="ctr" rtl="0">
              <a:lnSpc>
                <a:spcPct val="100000"/>
              </a:lnSpc>
              <a:spcBef>
                <a:spcPts val="0"/>
              </a:spcBef>
              <a:spcAft>
                <a:spcPts val="0"/>
              </a:spcAft>
              <a:buClr>
                <a:srgbClr val="000000"/>
              </a:buClr>
              <a:buFont typeface="Arial"/>
              <a:buNone/>
            </a:pPr>
            <a:endParaRPr sz="2400" b="1" i="0" u="none" strike="noStrike" cap="none">
              <a:solidFill>
                <a:schemeClr val="dk1"/>
              </a:solidFill>
              <a:latin typeface="Arial"/>
              <a:ea typeface="Arial"/>
              <a:cs typeface="Arial"/>
              <a:sym typeface="Arial"/>
            </a:endParaRPr>
          </a:p>
          <a:p>
            <a:pPr marL="0" marR="0" lvl="0" indent="0" algn="ctr" rtl="0">
              <a:lnSpc>
                <a:spcPct val="100000"/>
              </a:lnSpc>
              <a:spcBef>
                <a:spcPts val="0"/>
              </a:spcBef>
              <a:spcAft>
                <a:spcPts val="0"/>
              </a:spcAft>
              <a:buClr>
                <a:srgbClr val="000000"/>
              </a:buClr>
              <a:buFont typeface="Arial"/>
              <a:buNone/>
            </a:pPr>
            <a:endParaRPr sz="2400" b="1" i="0" u="none" strike="noStrike" cap="none">
              <a:solidFill>
                <a:schemeClr val="dk1"/>
              </a:solidFill>
              <a:latin typeface="Arial"/>
              <a:ea typeface="Arial"/>
              <a:cs typeface="Arial"/>
              <a:sym typeface="Arial"/>
            </a:endParaRPr>
          </a:p>
        </p:txBody>
      </p:sp>
      <p:sp>
        <p:nvSpPr>
          <p:cNvPr id="143" name="Shape 143"/>
          <p:cNvSpPr/>
          <p:nvPr/>
        </p:nvSpPr>
        <p:spPr>
          <a:xfrm>
            <a:off x="6012473" y="4825387"/>
            <a:ext cx="2628900" cy="1363200"/>
          </a:xfrm>
          <a:prstGeom prst="ellipse">
            <a:avLst/>
          </a:prstGeom>
          <a:gradFill>
            <a:gsLst>
              <a:gs pos="0">
                <a:srgbClr val="92A0D6">
                  <a:alpha val="0"/>
                </a:srgbClr>
              </a:gs>
              <a:gs pos="50000">
                <a:srgbClr val="BCC4E4"/>
              </a:gs>
              <a:gs pos="100000">
                <a:srgbClr val="DEE3F1"/>
              </a:gs>
            </a:gsLst>
            <a:lin ang="16200000" scaled="0"/>
          </a:gradFill>
          <a:ln w="25400" cap="flat" cmpd="sng">
            <a:solidFill>
              <a:srgbClr val="1D3E79"/>
            </a:solidFill>
            <a:prstDash val="solid"/>
            <a:round/>
            <a:headEnd type="none" w="med" len="med"/>
            <a:tailEnd type="none" w="med" len="med"/>
          </a:ln>
        </p:spPr>
        <p:txBody>
          <a:bodyPr lIns="91425" tIns="45700" rIns="91425" bIns="45700" anchor="ctr" anchorCtr="0">
            <a:noAutofit/>
          </a:bodyPr>
          <a:lstStyle/>
          <a:p>
            <a:pPr marL="0" marR="0" lvl="0" indent="0" algn="ctr" rtl="0">
              <a:lnSpc>
                <a:spcPct val="100000"/>
              </a:lnSpc>
              <a:spcBef>
                <a:spcPts val="0"/>
              </a:spcBef>
              <a:spcAft>
                <a:spcPts val="0"/>
              </a:spcAft>
              <a:buClr>
                <a:schemeClr val="dk1"/>
              </a:buClr>
              <a:buSzPct val="25000"/>
              <a:buFont typeface="Arial"/>
              <a:buNone/>
            </a:pPr>
            <a:r>
              <a:rPr lang="en-US" sz="2400" b="1" i="0" u="none" strike="noStrike" cap="none">
                <a:solidFill>
                  <a:schemeClr val="dk1"/>
                </a:solidFill>
                <a:latin typeface="Arial"/>
                <a:ea typeface="Arial"/>
                <a:cs typeface="Arial"/>
                <a:sym typeface="Arial"/>
              </a:rPr>
              <a:t>Hardware</a:t>
            </a:r>
          </a:p>
          <a:p>
            <a:pPr marL="0" marR="0" lvl="0" indent="0" algn="ctr" rtl="0">
              <a:lnSpc>
                <a:spcPct val="100000"/>
              </a:lnSpc>
              <a:spcBef>
                <a:spcPts val="0"/>
              </a:spcBef>
              <a:spcAft>
                <a:spcPts val="0"/>
              </a:spcAft>
              <a:buClr>
                <a:srgbClr val="000000"/>
              </a:buClr>
              <a:buFont typeface="Arial"/>
              <a:buNone/>
            </a:pPr>
            <a:endParaRPr sz="24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Font typeface="Arial"/>
              <a:buNone/>
            </a:pPr>
            <a:endParaRPr sz="2400" b="1" i="0" u="none" strike="noStrike" cap="none">
              <a:solidFill>
                <a:schemeClr val="dk1"/>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Shape 149"/>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Trusted Computing</a:t>
            </a:r>
          </a:p>
        </p:txBody>
      </p:sp>
      <p:sp>
        <p:nvSpPr>
          <p:cNvPr id="150" name="Shape 150"/>
          <p:cNvSpPr txBox="1">
            <a:spLocks noGrp="1"/>
          </p:cNvSpPr>
          <p:nvPr>
            <p:ph idx="1"/>
          </p:nvPr>
        </p:nvSpPr>
        <p:spPr>
          <a:xfrm>
            <a:off x="457200" y="1983694"/>
            <a:ext cx="8229600" cy="3771900"/>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Finally, trusted computing is a broad term that relates to technologies that ensure that computers perform in expected ways, regardless of whether or not it has been compromised, enforced in hardware or software. </a:t>
            </a:r>
          </a:p>
          <a:p>
            <a:pPr marL="342900" marR="0" lvl="0" indent="-34290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The Federal Government requires purchases of its computers and operating systems, such as Microsoft Windows, to include a Trusted Platform Module (TPM) – a standard specifying a secure crypto processor that provides for platform integrity.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Shape 155"/>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3600" b="0" i="0" u="none" strike="noStrike" cap="none">
                <a:solidFill>
                  <a:srgbClr val="2955A6"/>
                </a:solidFill>
                <a:latin typeface="Calibri"/>
                <a:ea typeface="Calibri"/>
                <a:cs typeface="Calibri"/>
                <a:sym typeface="Calibri"/>
              </a:rPr>
              <a:t>Other Cyber Defense Tools, Methods, and Components</a:t>
            </a:r>
          </a:p>
        </p:txBody>
      </p:sp>
      <p:sp>
        <p:nvSpPr>
          <p:cNvPr id="156" name="Shape 156"/>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In addition to implementing access controls, cryptography, firewalls and intrusion detection systems as discussed, other cyber defense tools include patching O/S and applications, vulnerability scanning, and penetration testing.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Shape 161"/>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Patching</a:t>
            </a:r>
          </a:p>
        </p:txBody>
      </p:sp>
      <p:sp>
        <p:nvSpPr>
          <p:cNvPr id="162" name="Shape 162"/>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Operating systems and applications contain flaws (“bugs”) that will be present from the point of release through its removal. Based on the severity of the issue, the vendor will issue security patches. </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Patches are software designed to fix or improve an issue, most often issues involving security vulnerabilities.</a:t>
            </a:r>
          </a:p>
          <a:p>
            <a:pPr marL="342900" marR="0" lvl="0" indent="-34290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It is important that security patches be reviewed and applied as quickly as possible, as these vulnerabilities are also known to attackers who will quickly develop exploits for them.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Shape 167"/>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Vulnerability Scanning</a:t>
            </a:r>
          </a:p>
        </p:txBody>
      </p:sp>
      <p:sp>
        <p:nvSpPr>
          <p:cNvPr id="168" name="Shape 168"/>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Vulnerability scanning is an automated inspection of network devices, operating systems, and applications to determine what weaknesses exists. Vulnerabilities can be configuration weaknesses, such as weak or default passwords in use, or missing patches.</a:t>
            </a:r>
          </a:p>
          <a:p>
            <a:pPr marL="342900" marR="0" lvl="0" indent="-34290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Several vulnerability scanning tools exist, including Tenable Nessus and Rapid7, that are widely used. These maintain large lists of known vulnerabilities and configuration “best practices” and assess the devices or applications to these elements.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Shape 173"/>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Penetration Testing</a:t>
            </a:r>
          </a:p>
        </p:txBody>
      </p:sp>
      <p:sp>
        <p:nvSpPr>
          <p:cNvPr id="174" name="Shape 174"/>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Vulnerability assessments differ from penetration testing in that the former seeks to identify the vulnerabilities so that they can be remediated, penetration testing attempts to exploit those vulnerabilities.</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While a seemingly offensive act such as penetration testing, or ethical hacking may seem to be an unusual choice as a defense tool, however attempting to assume the role of the attacker to attack a system through its vulnerabilities serves to ensure that security controls are working as expected.</a:t>
            </a:r>
          </a:p>
          <a:p>
            <a:pPr marL="342900" marR="0" lvl="0" indent="-34290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Many federal agencies have their systems penetration tested once a year as a part of their compliance assessment.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Shape 179"/>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Ethics</a:t>
            </a:r>
          </a:p>
        </p:txBody>
      </p:sp>
      <p:sp>
        <p:nvSpPr>
          <p:cNvPr id="180" name="Shape 180"/>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Ethics can be defined as the moral principles that guide an individual’s actions. Ethics are developed collectively by communities in which the individual is a member. Failure to adhere to these ethical standards usually results in removal from that community. For instance, most companies have Codes of Ethics that employees must agree to follow. In the event that these are violated, the employee can be terminated.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Shape 185"/>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Ethical Issues in Computer Security</a:t>
            </a:r>
          </a:p>
        </p:txBody>
      </p:sp>
      <p:sp>
        <p:nvSpPr>
          <p:cNvPr id="186" name="Shape 186"/>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000" b="0" i="0" u="none" strike="noStrike" cap="none" dirty="0">
                <a:solidFill>
                  <a:srgbClr val="2955A6"/>
                </a:solidFill>
                <a:latin typeface="Calibri"/>
                <a:ea typeface="Calibri"/>
                <a:cs typeface="Calibri"/>
                <a:sym typeface="Calibri"/>
              </a:rPr>
              <a:t>Most organizations that issue certifications to IT security personnel identify a number of ethical issues in their Codes of Ethics.  For instance, as a Certified Ethical Hacker (CEH), EC-Council expects the individual to:</a:t>
            </a:r>
          </a:p>
          <a:p>
            <a:pPr marL="742950" marR="0" lvl="1" indent="-285750" algn="l" rtl="0">
              <a:spcBef>
                <a:spcPts val="400"/>
              </a:spcBef>
              <a:spcAft>
                <a:spcPts val="0"/>
              </a:spcAft>
              <a:buClr>
                <a:srgbClr val="2955A6"/>
              </a:buClr>
              <a:buSzPct val="100000"/>
              <a:buFont typeface="Arial"/>
              <a:buChar char="–"/>
            </a:pPr>
            <a:r>
              <a:rPr lang="en-US" sz="2000" b="0" i="0" u="none" strike="noStrike" cap="none" dirty="0">
                <a:solidFill>
                  <a:srgbClr val="2955A6"/>
                </a:solidFill>
                <a:latin typeface="Calibri"/>
                <a:ea typeface="Calibri"/>
                <a:cs typeface="Calibri"/>
                <a:sym typeface="Calibri"/>
              </a:rPr>
              <a:t>Keep information learned in your professional work private, not sharing it without consent.</a:t>
            </a:r>
          </a:p>
          <a:p>
            <a:pPr marL="742950" marR="0" lvl="1" indent="-285750" algn="l" rtl="0">
              <a:spcBef>
                <a:spcPts val="400"/>
              </a:spcBef>
              <a:spcAft>
                <a:spcPts val="0"/>
              </a:spcAft>
              <a:buClr>
                <a:srgbClr val="2955A6"/>
              </a:buClr>
              <a:buSzPct val="100000"/>
              <a:buFont typeface="Arial"/>
              <a:buChar char="–"/>
            </a:pPr>
            <a:r>
              <a:rPr lang="en-US" sz="2000" b="0" i="0" u="none" strike="noStrike" cap="none" dirty="0">
                <a:solidFill>
                  <a:srgbClr val="2955A6"/>
                </a:solidFill>
                <a:latin typeface="Calibri"/>
                <a:ea typeface="Calibri"/>
                <a:cs typeface="Calibri"/>
                <a:sym typeface="Calibri"/>
              </a:rPr>
              <a:t>Protect intellectual property rights.</a:t>
            </a:r>
          </a:p>
          <a:p>
            <a:pPr marL="742950" marR="0" lvl="1" indent="-285750" algn="l" rtl="0">
              <a:spcBef>
                <a:spcPts val="400"/>
              </a:spcBef>
              <a:spcAft>
                <a:spcPts val="0"/>
              </a:spcAft>
              <a:buClr>
                <a:srgbClr val="2955A6"/>
              </a:buClr>
              <a:buSzPct val="100000"/>
              <a:buFont typeface="Arial"/>
              <a:buChar char="–"/>
            </a:pPr>
            <a:r>
              <a:rPr lang="en-US" sz="2000" b="0" i="0" u="none" strike="noStrike" cap="none" dirty="0">
                <a:solidFill>
                  <a:srgbClr val="2955A6"/>
                </a:solidFill>
                <a:latin typeface="Calibri"/>
                <a:ea typeface="Calibri"/>
                <a:cs typeface="Calibri"/>
                <a:sym typeface="Calibri"/>
              </a:rPr>
              <a:t>Provide competent service.</a:t>
            </a:r>
          </a:p>
          <a:p>
            <a:pPr marL="742950" marR="0" lvl="1" indent="-285750" algn="l" rtl="0">
              <a:spcBef>
                <a:spcPts val="400"/>
              </a:spcBef>
              <a:spcAft>
                <a:spcPts val="0"/>
              </a:spcAft>
              <a:buClr>
                <a:srgbClr val="2955A6"/>
              </a:buClr>
              <a:buSzPct val="100000"/>
              <a:buFont typeface="Arial"/>
              <a:buChar char="–"/>
            </a:pPr>
            <a:r>
              <a:rPr lang="en-US" sz="2000" b="0" i="0" u="none" strike="noStrike" cap="none" dirty="0">
                <a:solidFill>
                  <a:srgbClr val="2955A6"/>
                </a:solidFill>
                <a:latin typeface="Calibri"/>
                <a:ea typeface="Calibri"/>
                <a:cs typeface="Calibri"/>
                <a:sym typeface="Calibri"/>
              </a:rPr>
              <a:t>Disclose conflicts of interest.</a:t>
            </a:r>
          </a:p>
          <a:p>
            <a:pPr marL="742950" marR="0" lvl="1" indent="-285750" algn="l" rtl="0">
              <a:spcBef>
                <a:spcPts val="400"/>
              </a:spcBef>
              <a:spcAft>
                <a:spcPts val="0"/>
              </a:spcAft>
              <a:buClr>
                <a:srgbClr val="2955A6"/>
              </a:buClr>
              <a:buSzPct val="100000"/>
              <a:buFont typeface="Arial"/>
              <a:buChar char="–"/>
            </a:pPr>
            <a:r>
              <a:rPr lang="en-US" sz="2000" b="0" i="0" u="none" strike="noStrike" cap="none" dirty="0">
                <a:solidFill>
                  <a:srgbClr val="2955A6"/>
                </a:solidFill>
                <a:latin typeface="Calibri"/>
                <a:ea typeface="Calibri"/>
                <a:cs typeface="Calibri"/>
                <a:sym typeface="Calibri"/>
              </a:rPr>
              <a:t>Not associate with malicious hackers.</a:t>
            </a:r>
          </a:p>
          <a:p>
            <a:pPr marL="742950" marR="0" lvl="1" indent="-285750" algn="l" rtl="0">
              <a:spcBef>
                <a:spcPts val="400"/>
              </a:spcBef>
              <a:spcAft>
                <a:spcPts val="0"/>
              </a:spcAft>
              <a:buClr>
                <a:srgbClr val="2955A6"/>
              </a:buClr>
              <a:buSzPct val="100000"/>
              <a:buFont typeface="Arial"/>
              <a:buChar char="–"/>
            </a:pPr>
            <a:r>
              <a:rPr lang="en-US" sz="2000" b="0" i="0" u="none" strike="noStrike" cap="none" dirty="0">
                <a:solidFill>
                  <a:srgbClr val="2955A6"/>
                </a:solidFill>
                <a:latin typeface="Calibri"/>
                <a:ea typeface="Calibri"/>
                <a:cs typeface="Calibri"/>
                <a:sym typeface="Calibri"/>
              </a:rPr>
              <a:t>Ensure that all penetration testing is legal and authorized.</a:t>
            </a:r>
          </a:p>
          <a:p>
            <a:pPr marL="342900" marR="0" lvl="0" indent="-342900" algn="l" rtl="0">
              <a:spcBef>
                <a:spcPts val="400"/>
              </a:spcBef>
              <a:buClr>
                <a:srgbClr val="2955A6"/>
              </a:buClr>
              <a:buSzPct val="100000"/>
              <a:buFont typeface="Arial"/>
              <a:buChar char="•"/>
            </a:pPr>
            <a:r>
              <a:rPr lang="en-US" sz="2000" b="0" i="0" u="none" strike="noStrike" cap="none" dirty="0">
                <a:solidFill>
                  <a:srgbClr val="2955A6"/>
                </a:solidFill>
                <a:latin typeface="Calibri"/>
                <a:ea typeface="Calibri"/>
                <a:cs typeface="Calibri"/>
                <a:sym typeface="Calibri"/>
              </a:rPr>
              <a:t>Failure to follow these standards can result in the loss of certification.</a:t>
            </a:r>
          </a:p>
        </p:txBody>
      </p:sp>
    </p:spTree>
  </p:cSld>
  <p:clrMapOvr>
    <a:masterClrMapping/>
  </p:clrMapOvr>
</p:sld>
</file>

<file path=ppt/theme/theme1.xml><?xml version="1.0" encoding="utf-8"?>
<a:theme xmlns:a="http://schemas.openxmlformats.org/drawingml/2006/main" name="PP_C5Modules_CC_License_standard">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7F34F36C-3DAE-4569-B5F7-837ED24F7713}" vid="{36867949-B10A-43A8-9E43-8DE4B3DD7460}"/>
    </a:ext>
  </a:ext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C5 ppt template accessible standard</Template>
  <TotalTime>46</TotalTime>
  <Words>2262</Words>
  <Application>Microsoft Office PowerPoint</Application>
  <PresentationFormat>On-screen Show (4:3)</PresentationFormat>
  <Paragraphs>125</Paragraphs>
  <Slides>22</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Arial</vt:lpstr>
      <vt:lpstr>Calibri</vt:lpstr>
      <vt:lpstr>Calibri Light</vt:lpstr>
      <vt:lpstr>Libre Baskerville</vt:lpstr>
      <vt:lpstr>Noto Sans Symbols</vt:lpstr>
      <vt:lpstr>PP_C5Modules_CC_License_standard</vt:lpstr>
      <vt:lpstr>Cybersecurity Threats and Countermeasures</vt:lpstr>
      <vt:lpstr>Learning Objectives</vt:lpstr>
      <vt:lpstr>Security Services</vt:lpstr>
      <vt:lpstr>Confidentiality</vt:lpstr>
      <vt:lpstr>Integrity</vt:lpstr>
      <vt:lpstr>Availability</vt:lpstr>
      <vt:lpstr>Authentication</vt:lpstr>
      <vt:lpstr>Authorization</vt:lpstr>
      <vt:lpstr>Access Control</vt:lpstr>
      <vt:lpstr>Security Controls</vt:lpstr>
      <vt:lpstr>Preventive Controls</vt:lpstr>
      <vt:lpstr>Deterrent Controls</vt:lpstr>
      <vt:lpstr>Corrective Controls</vt:lpstr>
      <vt:lpstr>Putting it All Together</vt:lpstr>
      <vt:lpstr>Defense-in-Depth</vt:lpstr>
      <vt:lpstr>Trusted Computing</vt:lpstr>
      <vt:lpstr>Other Cyber Defense Tools, Methods, and Components</vt:lpstr>
      <vt:lpstr>Patching</vt:lpstr>
      <vt:lpstr>Vulnerability Scanning</vt:lpstr>
      <vt:lpstr>Penetration Testing</vt:lpstr>
      <vt:lpstr>Ethics</vt:lpstr>
      <vt:lpstr>Ethical Issues in Computer Security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Cybersecurity Threats and Countermeasures</dc:title>
  <dc:creator>Christine Hosler</dc:creator>
  <cp:lastModifiedBy>Sarah M Diesburg</cp:lastModifiedBy>
  <cp:revision>7</cp:revision>
  <dcterms:modified xsi:type="dcterms:W3CDTF">2026-01-19T18:16:52Z</dcterms:modified>
</cp:coreProperties>
</file>