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23"/>
  </p:notesMasterIdLst>
  <p:sldIdLst>
    <p:sldId id="287" r:id="rId2"/>
    <p:sldId id="288" r:id="rId3"/>
    <p:sldId id="289" r:id="rId4"/>
    <p:sldId id="290" r:id="rId5"/>
    <p:sldId id="291" r:id="rId6"/>
    <p:sldId id="292" r:id="rId7"/>
    <p:sldId id="293" r:id="rId8"/>
    <p:sldId id="294" r:id="rId9"/>
    <p:sldId id="295" r:id="rId10"/>
    <p:sldId id="296" r:id="rId11"/>
    <p:sldId id="297" r:id="rId12"/>
    <p:sldId id="298" r:id="rId13"/>
    <p:sldId id="299" r:id="rId14"/>
    <p:sldId id="300" r:id="rId15"/>
    <p:sldId id="301" r:id="rId16"/>
    <p:sldId id="302" r:id="rId17"/>
    <p:sldId id="303" r:id="rId18"/>
    <p:sldId id="304" r:id="rId19"/>
    <p:sldId id="305" r:id="rId20"/>
    <p:sldId id="306" r:id="rId21"/>
    <p:sldId id="307"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8128" autoAdjust="0"/>
  </p:normalViewPr>
  <p:slideViewPr>
    <p:cSldViewPr snapToGrid="0">
      <p:cViewPr varScale="1">
        <p:scale>
          <a:sx n="108" d="100"/>
          <a:sy n="108" d="100"/>
        </p:scale>
        <p:origin x="332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100" b="0" i="0" u="none" strike="noStrike" cap="none">
                <a:solidFill>
                  <a:schemeClr val="dk1"/>
                </a:solidFill>
                <a:latin typeface="Arial"/>
                <a:ea typeface="Arial"/>
                <a:cs typeface="Arial"/>
                <a:sym typeface="Arial"/>
              </a:defRPr>
            </a:lvl2pPr>
            <a:lvl3pPr marL="914400" marR="0" lvl="2" indent="0" algn="l" rtl="0">
              <a:spcBef>
                <a:spcPts val="0"/>
              </a:spcBef>
              <a:buNone/>
              <a:defRPr sz="1100" b="0" i="0" u="none" strike="noStrike" cap="none">
                <a:solidFill>
                  <a:schemeClr val="dk1"/>
                </a:solidFill>
                <a:latin typeface="Arial"/>
                <a:ea typeface="Arial"/>
                <a:cs typeface="Arial"/>
                <a:sym typeface="Arial"/>
              </a:defRPr>
            </a:lvl3pPr>
            <a:lvl4pPr marL="1371600" marR="0" lvl="3" indent="0" algn="l" rtl="0">
              <a:spcBef>
                <a:spcPts val="0"/>
              </a:spcBef>
              <a:buNone/>
              <a:defRPr sz="1100" b="0" i="0" u="none" strike="noStrike" cap="none">
                <a:solidFill>
                  <a:schemeClr val="dk1"/>
                </a:solidFill>
                <a:latin typeface="Arial"/>
                <a:ea typeface="Arial"/>
                <a:cs typeface="Arial"/>
                <a:sym typeface="Arial"/>
              </a:defRPr>
            </a:lvl4pPr>
            <a:lvl5pPr marL="1828800" marR="0" lvl="4" indent="0" algn="l" rtl="0">
              <a:spcBef>
                <a:spcPts val="0"/>
              </a:spcBef>
              <a:buNone/>
              <a:defRPr sz="1100" b="0" i="0" u="none" strike="noStrike" cap="none">
                <a:solidFill>
                  <a:schemeClr val="dk1"/>
                </a:solidFill>
                <a:latin typeface="Arial"/>
                <a:ea typeface="Arial"/>
                <a:cs typeface="Arial"/>
                <a:sym typeface="Arial"/>
              </a:defRPr>
            </a:lvl5pPr>
            <a:lvl6pPr marL="2286000" marR="0" lvl="5" indent="0" algn="l" rtl="0">
              <a:spcBef>
                <a:spcPts val="0"/>
              </a:spcBef>
              <a:buNone/>
              <a:defRPr sz="1100" b="0" i="0" u="none" strike="noStrike" cap="none">
                <a:solidFill>
                  <a:schemeClr val="dk1"/>
                </a:solidFill>
                <a:latin typeface="Arial"/>
                <a:ea typeface="Arial"/>
                <a:cs typeface="Arial"/>
                <a:sym typeface="Arial"/>
              </a:defRPr>
            </a:lvl6pPr>
            <a:lvl7pPr marL="2743200" marR="0" lvl="6" indent="0" algn="l" rtl="0">
              <a:spcBef>
                <a:spcPts val="0"/>
              </a:spcBef>
              <a:buNone/>
              <a:defRPr sz="1100" b="0" i="0" u="none" strike="noStrike" cap="none">
                <a:solidFill>
                  <a:schemeClr val="dk1"/>
                </a:solidFill>
                <a:latin typeface="Arial"/>
                <a:ea typeface="Arial"/>
                <a:cs typeface="Arial"/>
                <a:sym typeface="Arial"/>
              </a:defRPr>
            </a:lvl7pPr>
            <a:lvl8pPr marL="3200400" marR="0" lvl="7" indent="0" algn="l" rtl="0">
              <a:spcBef>
                <a:spcPts val="0"/>
              </a:spcBef>
              <a:buNone/>
              <a:defRPr sz="1100" b="0" i="0" u="none" strike="noStrike" cap="none">
                <a:solidFill>
                  <a:schemeClr val="dk1"/>
                </a:solidFill>
                <a:latin typeface="Arial"/>
                <a:ea typeface="Arial"/>
                <a:cs typeface="Arial"/>
                <a:sym typeface="Arial"/>
              </a:defRPr>
            </a:lvl8pPr>
            <a:lvl9pPr marL="3657600" marR="0" lvl="8" indent="0" algn="l" rtl="0">
              <a:spcBef>
                <a:spcPts val="0"/>
              </a:spcBef>
              <a:buNone/>
              <a:defRPr sz="11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google.com/search?q=Pi-hole&amp;sca_esv=109423f6832a2638&amp;rlz=1C1GCEA_enUS980US980&amp;ei=unduac_IM6TKp84PxuDkuQY&amp;ved=2ahUKEwjMo_DwnZiSAxWOHNAFHWKCCFgQgK4QegYIAQgAEAU&amp;uact=5&amp;oq=what+is+pihole&amp;gs_lp=Egxnd3Mtd2l6LXNlcnAiDndoYXQgaXMgcGlob2xlMgsQABiABBiKBRiRAjIFEAAYgAQyCxAAGIAEGIoFGJECMgsQABiABBiKBRiRAjIFEAAYgAQyBhAAGAcYHjILEAAYgAQYigUYkQIyBhAAGAcYHjIGEAAYBxgeMgYQABgHGB5InhNQvQhY4A5wAXgBkAEAmAGTAaAB1waqAQM0LjS4AQPIAQD4AQGYAgWgAqIDwgIKEAAYRxjWBBiwA8ICDRAAGIAEGIoFGEMYsAPCAgoQABiABBgNGLEDwgINEAAYgAQYDRixAxiDAcICFhAuGA0YgwEYrwEYxwEYsQMYgAQYigXCAgcQABiABBgNmAMAiAYBkAYKkgcDMy4yoAewObIHAzIuMrgHngPCBwUwLjMuMsgHDYAIAQ&amp;sclient=gws-wiz-serp"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8" Type="http://schemas.openxmlformats.org/officeDocument/2006/relationships/hyperlink" Target="https://en.wikipedia.org/wiki/Boots_(company)" TargetMode="External"/><Relationship Id="rId3" Type="http://schemas.openxmlformats.org/officeDocument/2006/relationships/hyperlink" Target="https://en.wikipedia.org/wiki/MOVEit" TargetMode="External"/><Relationship Id="rId7" Type="http://schemas.openxmlformats.org/officeDocument/2006/relationships/hyperlink" Target="https://en.wikipedia.org/wiki/BBC" TargetMode="External"/><Relationship Id="rId2" Type="http://schemas.openxmlformats.org/officeDocument/2006/relationships/slide" Target="../slides/slide14.xml"/><Relationship Id="rId1" Type="http://schemas.openxmlformats.org/officeDocument/2006/relationships/notesMaster" Target="../notesMasters/notesMaster1.xml"/><Relationship Id="rId6" Type="http://schemas.openxmlformats.org/officeDocument/2006/relationships/hyperlink" Target="https://en.wikipedia.org/wiki/British_Airways" TargetMode="External"/><Relationship Id="rId5" Type="http://schemas.openxmlformats.org/officeDocument/2006/relationships/hyperlink" Target="https://en.wikipedia.org/wiki/Clop_(cyber_gang)" TargetMode="External"/><Relationship Id="rId4" Type="http://schemas.openxmlformats.org/officeDocument/2006/relationships/hyperlink" Target="https://en.wikipedia.org/wiki/File_transfer_service"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Shape 24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243" name="Shape 24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Shape 24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49" name="Shape 249"/>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Shape 25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255" name="Shape 25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Shape 26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61" name="Shape 261"/>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100" b="1" i="0" u="none" strike="noStrike" cap="none">
                <a:solidFill>
                  <a:schemeClr val="dk1"/>
                </a:solidFill>
                <a:latin typeface="Arial"/>
                <a:ea typeface="Arial"/>
                <a:cs typeface="Arial"/>
                <a:sym typeface="Arial"/>
              </a:rPr>
              <a:t>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Shape 26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67" name="Shape 267"/>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100" b="1" i="0" u="none" strike="noStrike" cap="none">
                <a:solidFill>
                  <a:schemeClr val="dk1"/>
                </a:solidFill>
                <a:latin typeface="Arial"/>
                <a:ea typeface="Arial"/>
                <a:cs typeface="Arial"/>
                <a:sym typeface="Arial"/>
              </a:rPr>
              <a:t>Michelangelo</a:t>
            </a:r>
            <a:r>
              <a:rPr lang="en-US" sz="1100" b="0" i="0" u="none" strike="noStrike" cap="none">
                <a:solidFill>
                  <a:schemeClr val="dk1"/>
                </a:solidFill>
                <a:latin typeface="Arial"/>
                <a:ea typeface="Arial"/>
                <a:cs typeface="Arial"/>
                <a:sym typeface="Arial"/>
              </a:rPr>
              <a:t> – first seen in 1991, on the artist’s birthdate (March 6</a:t>
            </a:r>
            <a:r>
              <a:rPr lang="en-US" sz="1100" b="0" i="0" u="none" strike="noStrike" cap="none" baseline="30000">
                <a:solidFill>
                  <a:schemeClr val="dk1"/>
                </a:solidFill>
                <a:latin typeface="Arial"/>
                <a:ea typeface="Arial"/>
                <a:cs typeface="Arial"/>
                <a:sym typeface="Arial"/>
              </a:rPr>
              <a:t>th</a:t>
            </a:r>
            <a:r>
              <a:rPr lang="en-US" sz="1100" b="0" i="0" u="none" strike="noStrike" cap="none">
                <a:solidFill>
                  <a:schemeClr val="dk1"/>
                </a:solidFill>
                <a:latin typeface="Arial"/>
                <a:ea typeface="Arial"/>
                <a:cs typeface="Arial"/>
                <a:sym typeface="Arial"/>
              </a:rPr>
              <a:t>), PCs infected with the Michelangelo virus would overwrite the hard disk or modify the master boot record.  As systems weren’t connected to the Internet, this worm replicated by infecting the master boot record on a hard drive. When a floppy disk was formatted, the virus would copy to the boot sector on the floppy. If that floppy disk was inadvertently left in a PC when it attempted to boot, it would then infect the master boot record of that PC.</a:t>
            </a:r>
          </a:p>
          <a:p>
            <a:pPr marL="0" marR="0" lvl="0" indent="0" algn="l" rtl="0">
              <a:spcBef>
                <a:spcPts val="0"/>
              </a:spcBef>
              <a:spcAft>
                <a:spcPts val="0"/>
              </a:spcAft>
              <a:buSzPct val="25000"/>
              <a:buNone/>
            </a:pPr>
            <a:endParaRPr sz="1100" b="1" i="0" u="none" strike="noStrike" cap="none">
              <a:solidFill>
                <a:schemeClr val="dk1"/>
              </a:solidFill>
              <a:latin typeface="Arial"/>
              <a:ea typeface="Arial"/>
              <a:cs typeface="Arial"/>
              <a:sym typeface="Arial"/>
            </a:endParaRPr>
          </a:p>
          <a:p>
            <a:pPr marL="0" marR="0" lvl="0" indent="0" algn="l" rtl="0">
              <a:spcBef>
                <a:spcPts val="0"/>
              </a:spcBef>
              <a:spcAft>
                <a:spcPts val="0"/>
              </a:spcAft>
              <a:buSzPct val="25000"/>
              <a:buNone/>
            </a:pPr>
            <a:r>
              <a:rPr lang="en-US" sz="1100" b="1" i="0" u="none" strike="noStrike" cap="none">
                <a:solidFill>
                  <a:schemeClr val="dk1"/>
                </a:solidFill>
                <a:latin typeface="Arial"/>
                <a:ea typeface="Arial"/>
                <a:cs typeface="Arial"/>
                <a:sym typeface="Arial"/>
              </a:rPr>
              <a:t>Morris Worm – </a:t>
            </a:r>
            <a:r>
              <a:rPr lang="en-US" sz="1100" b="0" i="0" u="none" strike="noStrike" cap="none">
                <a:solidFill>
                  <a:schemeClr val="dk1"/>
                </a:solidFill>
                <a:latin typeface="Arial"/>
                <a:ea typeface="Arial"/>
                <a:cs typeface="Arial"/>
                <a:sym typeface="Arial"/>
              </a:rPr>
              <a:t>Robert Morris, an MIT engineer, is credited with creating the first worm in 1998, largely to determine the feasibility of autonomous code, wending its way across the Internet. At the time, it was credited with infecting almost 10% of the hosts on the Internet (the total number of hosts at that time were about 66,000). Its success spurred the DoD into funding US-CERT at Carnegie-Mellon.</a:t>
            </a:r>
          </a:p>
          <a:p>
            <a:pPr marL="0" marR="0" lvl="0" indent="0" algn="l" rtl="0">
              <a:spcBef>
                <a:spcPts val="0"/>
              </a:spcBef>
              <a:spcAft>
                <a:spcPts val="0"/>
              </a:spcAft>
              <a:buSzPct val="25000"/>
              <a:buNone/>
            </a:pP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SzPct val="25000"/>
              <a:buNone/>
            </a:pPr>
            <a:r>
              <a:rPr lang="en-US" sz="1100" b="1" i="0" u="none" strike="noStrike" cap="none">
                <a:solidFill>
                  <a:schemeClr val="dk1"/>
                </a:solidFill>
                <a:latin typeface="Arial"/>
                <a:ea typeface="Arial"/>
                <a:cs typeface="Arial"/>
                <a:sym typeface="Arial"/>
              </a:rPr>
              <a:t>Melissa</a:t>
            </a:r>
            <a:r>
              <a:rPr lang="en-US" sz="1100" b="0" i="0" u="none" strike="noStrike" cap="none">
                <a:solidFill>
                  <a:schemeClr val="dk1"/>
                </a:solidFill>
                <a:latin typeface="Arial"/>
                <a:ea typeface="Arial"/>
                <a:cs typeface="Arial"/>
                <a:sym typeface="Arial"/>
              </a:rPr>
              <a:t> – March 26, 1999, Melissa was a macro virus in Microsoft Office Word that shut down thousands of email servers, causing millions of dollars of damage.  Developed by David Smitch, it was named after an exotic dancer that Smitch had a crush on.  Because of the damage caused to businesses who repeatedly had their email systems brought down, it was the first malware attack in which the FBI became involved.</a:t>
            </a:r>
          </a:p>
          <a:p>
            <a:pPr marL="0" marR="0" lvl="0" indent="0" algn="l" rtl="0">
              <a:spcBef>
                <a:spcPts val="0"/>
              </a:spcBef>
              <a:spcAft>
                <a:spcPts val="0"/>
              </a:spcAft>
              <a:buSzPct val="25000"/>
              <a:buNone/>
            </a:pP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SzPct val="25000"/>
              <a:buNone/>
            </a:pPr>
            <a:r>
              <a:rPr lang="en-US" sz="1100" b="1" i="0" u="none" strike="noStrike" cap="none">
                <a:solidFill>
                  <a:schemeClr val="dk1"/>
                </a:solidFill>
                <a:latin typeface="Arial"/>
                <a:ea typeface="Arial"/>
                <a:cs typeface="Arial"/>
                <a:sym typeface="Arial"/>
              </a:rPr>
              <a:t>Nimda </a:t>
            </a:r>
            <a:r>
              <a:rPr lang="en-US" sz="1100" b="0" i="0" u="none" strike="noStrike" cap="none">
                <a:solidFill>
                  <a:schemeClr val="dk1"/>
                </a:solidFill>
                <a:latin typeface="Arial"/>
                <a:ea typeface="Arial"/>
                <a:cs typeface="Arial"/>
                <a:sym typeface="Arial"/>
              </a:rPr>
              <a:t>– Nimda (admin spelled in reverse) was released September 18, 2001 and rapidly spread across the Internet, infecting vulnerable web servers and other Windows systems, leveraging a vulnerability in these largely unpatched systems. It was unique in that it used multiple methods , including email, to infect systems.</a:t>
            </a:r>
          </a:p>
          <a:p>
            <a:pPr marL="0" marR="0" lvl="0" indent="0" algn="l" rtl="0">
              <a:spcBef>
                <a:spcPts val="0"/>
              </a:spcBef>
              <a:spcAft>
                <a:spcPts val="0"/>
              </a:spcAft>
              <a:buSzPct val="25000"/>
              <a:buNone/>
            </a:pPr>
            <a:r>
              <a:rPr lang="en-US" sz="1100" b="1" i="0" u="none" strike="noStrike" cap="none">
                <a:solidFill>
                  <a:schemeClr val="dk1"/>
                </a:solidFill>
                <a:latin typeface="Arial"/>
                <a:ea typeface="Arial"/>
                <a:cs typeface="Arial"/>
                <a:sym typeface="Arial"/>
              </a:rPr>
              <a:t> </a:t>
            </a:r>
          </a:p>
          <a:p>
            <a:pPr marL="0" marR="0" lvl="0" indent="0" algn="l" rtl="0">
              <a:spcBef>
                <a:spcPts val="0"/>
              </a:spcBef>
              <a:spcAft>
                <a:spcPts val="0"/>
              </a:spcAft>
              <a:buSzPct val="25000"/>
              <a:buNone/>
            </a:pPr>
            <a:r>
              <a:rPr lang="en-US" sz="1100" b="1" i="0" u="none" strike="noStrike" cap="none">
                <a:solidFill>
                  <a:schemeClr val="dk1"/>
                </a:solidFill>
                <a:latin typeface="Arial"/>
                <a:ea typeface="Arial"/>
                <a:cs typeface="Arial"/>
                <a:sym typeface="Arial"/>
              </a:rPr>
              <a:t>Sobig </a:t>
            </a:r>
            <a:r>
              <a:rPr lang="en-US" sz="1100" b="0" i="0" u="none" strike="noStrike" cap="none">
                <a:solidFill>
                  <a:schemeClr val="dk1"/>
                </a:solidFill>
                <a:latin typeface="Arial"/>
                <a:ea typeface="Arial"/>
                <a:cs typeface="Arial"/>
                <a:sym typeface="Arial"/>
              </a:rPr>
              <a:t>– launched in 2003, millions of computers were infected.  It took on many characteristics (different “variants”), however most would appear as email. When infected, the malware generates its own SMTP engine and sends itself out to others using email contacts found on the victim’s system.</a:t>
            </a:r>
          </a:p>
          <a:p>
            <a:pPr marL="0" marR="0" lvl="0" indent="0" algn="l" rtl="0">
              <a:spcBef>
                <a:spcPts val="0"/>
              </a:spcBef>
              <a:spcAft>
                <a:spcPts val="0"/>
              </a:spcAft>
              <a:buSzPct val="25000"/>
              <a:buNone/>
            </a:pPr>
            <a:endParaRPr sz="1100" b="0" i="0" u="none" strike="noStrike" cap="none">
              <a:solidFill>
                <a:schemeClr val="dk1"/>
              </a:solidFill>
              <a:latin typeface="Arial"/>
              <a:ea typeface="Arial"/>
              <a:cs typeface="Arial"/>
              <a:sym typeface="Arial"/>
            </a:endParaRPr>
          </a:p>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Shape 27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273" name="Shape 27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Shape 27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79" name="Shape 279"/>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Keyloggers represent one of the largest threats to network security, especially hardware-based keyloggers that can be attached between the keyboard and keyboard port on the motherboard and will capture every keystroke at the device without detection.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Shape 28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285" name="Shape 28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Shape 29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291" name="Shape 29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Shape 29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marL="171450" lvl="0" indent="-171450">
              <a:spcBef>
                <a:spcPts val="0"/>
              </a:spcBef>
              <a:buFont typeface="Arial" panose="020B0604020202020204" pitchFamily="34" charset="0"/>
              <a:buChar char="•"/>
            </a:pPr>
            <a:r>
              <a:rPr lang="en-US" sz="1100" b="0" i="0" u="none" strike="noStrike" kern="1200" cap="none" dirty="0">
                <a:solidFill>
                  <a:schemeClr val="dk1"/>
                </a:solidFill>
                <a:effectLst/>
                <a:latin typeface="Arial"/>
                <a:ea typeface="Arial"/>
                <a:cs typeface="Arial"/>
                <a:sym typeface="Arial"/>
                <a:hlinkClick r:id="rId3"/>
              </a:rPr>
              <a:t>Pi-hole</a:t>
            </a:r>
            <a:r>
              <a:rPr lang="en-US" sz="1100" b="0" i="0" u="none" strike="noStrike" kern="1200" cap="none" dirty="0">
                <a:solidFill>
                  <a:schemeClr val="dk1"/>
                </a:solidFill>
                <a:effectLst/>
                <a:latin typeface="Arial"/>
                <a:ea typeface="Arial"/>
                <a:cs typeface="Arial"/>
                <a:sym typeface="Arial"/>
              </a:rPr>
              <a:t>, often implemented on a Raspberry Pi or Linux system, is </a:t>
            </a:r>
            <a:r>
              <a:rPr lang="en-US" dirty="0"/>
              <a:t>a network-wide ad and tracker blocker</a:t>
            </a:r>
            <a:r>
              <a:rPr lang="en-US" sz="1100" b="0" i="0" u="none" strike="noStrike" kern="1200" cap="none" dirty="0">
                <a:solidFill>
                  <a:schemeClr val="dk1"/>
                </a:solidFill>
                <a:effectLst/>
                <a:latin typeface="Arial"/>
                <a:ea typeface="Arial"/>
                <a:cs typeface="Arial"/>
                <a:sym typeface="Arial"/>
              </a:rPr>
              <a:t> that works as a DNS sinkhole, preventing unwanted content from reaching any device on your network without installing software on each one, protecting smart TVs, phones, and computers by blocking ads and trackers at the DNS level before they load. It acts as a private DNS server, filtering out requests to known ad/tracker domains, improving privacy and potentially network speed, and offers a web interface for monitoring blocked requests. </a:t>
            </a:r>
            <a:endParaRPr dirty="0"/>
          </a:p>
        </p:txBody>
      </p:sp>
      <p:sp>
        <p:nvSpPr>
          <p:cNvPr id="297" name="Shape 29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Shape 30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303" name="Shape 30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Shape 3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09" name="Shape 309"/>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SzPct val="25000"/>
              <a:buNone/>
            </a:pPr>
            <a:endParaRPr sz="11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Shape 31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15" name="Shape 315"/>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endParaRPr lang="en-US" sz="11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Shape 3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en-US" sz="1100" b="0" i="0" u="none" strike="noStrike" cap="none" dirty="0">
                <a:solidFill>
                  <a:schemeClr val="dk1"/>
                </a:solidFill>
                <a:latin typeface="Arial"/>
                <a:ea typeface="Arial"/>
                <a:cs typeface="Arial"/>
                <a:sym typeface="Arial"/>
              </a:rPr>
              <a:t> </a:t>
            </a:r>
            <a:r>
              <a:rPr lang="en-US" sz="1100" b="0" i="0" u="none" strike="noStrike" kern="1200" cap="none" dirty="0">
                <a:solidFill>
                  <a:schemeClr val="dk1"/>
                </a:solidFill>
                <a:effectLst/>
                <a:latin typeface="Arial"/>
                <a:ea typeface="Arial"/>
                <a:cs typeface="Arial"/>
                <a:sym typeface="Arial"/>
              </a:rPr>
              <a:t>Over the years, SQL injection has been responsible for some of the most significant data breaches and cyber-attacks. Below are just two examples from the SQL Injection Wikipedia page:</a:t>
            </a:r>
          </a:p>
          <a:p>
            <a:endParaRPr lang="en-US" sz="1100" b="0" i="0" u="none" strike="noStrike" kern="1200" cap="none" dirty="0">
              <a:solidFill>
                <a:schemeClr val="dk1"/>
              </a:solidFill>
              <a:effectLst/>
              <a:latin typeface="Arial"/>
              <a:ea typeface="Arial"/>
              <a:cs typeface="Arial"/>
              <a:sym typeface="Arial"/>
            </a:endParaRPr>
          </a:p>
          <a:p>
            <a:pPr marL="0" marR="0" lvl="0" indent="0" algn="l" rtl="0">
              <a:spcBef>
                <a:spcPts val="0"/>
              </a:spcBef>
              <a:buSzPct val="25000"/>
              <a:buNone/>
            </a:pPr>
            <a:r>
              <a:rPr lang="en-US" sz="1100" b="0" i="0" u="none" strike="noStrike" cap="none" dirty="0">
                <a:solidFill>
                  <a:schemeClr val="dk1"/>
                </a:solidFill>
                <a:latin typeface="Arial"/>
                <a:ea typeface="Arial"/>
                <a:cs typeface="Arial"/>
                <a:sym typeface="Arial"/>
              </a:rPr>
              <a:t>In 2024, a pair of security researchers discovered an SQL injection vulnerability in the </a:t>
            </a:r>
            <a:r>
              <a:rPr lang="en-US" sz="1100" b="0" i="0" u="none" strike="noStrike" cap="none" dirty="0" err="1">
                <a:solidFill>
                  <a:schemeClr val="dk1"/>
                </a:solidFill>
                <a:latin typeface="Arial"/>
                <a:ea typeface="Arial"/>
                <a:cs typeface="Arial"/>
                <a:sym typeface="Arial"/>
              </a:rPr>
              <a:t>FlyCASS</a:t>
            </a:r>
            <a:r>
              <a:rPr lang="en-US" sz="1100" b="0" i="0" u="none" strike="noStrike" cap="none" dirty="0">
                <a:solidFill>
                  <a:schemeClr val="dk1"/>
                </a:solidFill>
                <a:latin typeface="Arial"/>
                <a:ea typeface="Arial"/>
                <a:cs typeface="Arial"/>
                <a:sym typeface="Arial"/>
              </a:rPr>
              <a:t> system, used by the Transportation Security Administration (TSA) to verify airline crew members. Exploiting this flaw provided unauthorized administrative access, potentially allowing the addition of false crew records.</a:t>
            </a:r>
          </a:p>
          <a:p>
            <a:pPr marL="0" marR="0" lvl="0" indent="0" algn="l" rtl="0">
              <a:spcBef>
                <a:spcPts val="0"/>
              </a:spcBef>
              <a:buSzPct val="25000"/>
              <a:buNone/>
            </a:pPr>
            <a:endParaRPr lang="en-US" sz="1100" b="0" i="0" u="none" strike="noStrike" cap="none" dirty="0">
              <a:solidFill>
                <a:schemeClr val="dk1"/>
              </a:solidFill>
              <a:latin typeface="Arial"/>
              <a:ea typeface="Arial"/>
              <a:cs typeface="Arial"/>
              <a:sym typeface="Arial"/>
            </a:endParaRPr>
          </a:p>
          <a:p>
            <a:pPr marL="0" marR="0" lvl="0" indent="0" algn="l" rtl="0">
              <a:spcBef>
                <a:spcPts val="0"/>
              </a:spcBef>
              <a:buSzPct val="25000"/>
              <a:buNone/>
            </a:pPr>
            <a:r>
              <a:rPr lang="en-US" sz="1100" b="0" i="0" u="none" strike="noStrike" kern="1200" cap="none" dirty="0">
                <a:solidFill>
                  <a:schemeClr val="dk1"/>
                </a:solidFill>
                <a:effectLst/>
                <a:latin typeface="Arial"/>
                <a:ea typeface="Arial"/>
                <a:cs typeface="Arial"/>
                <a:sym typeface="Arial"/>
              </a:rPr>
              <a:t>In 2023, a widespread SQL injection attack targeted </a:t>
            </a:r>
            <a:r>
              <a:rPr lang="en-US" sz="1100" b="0" i="0" u="none" strike="noStrike" kern="1200" cap="none" dirty="0" err="1">
                <a:solidFill>
                  <a:schemeClr val="dk1"/>
                </a:solidFill>
                <a:effectLst/>
                <a:latin typeface="Arial"/>
                <a:ea typeface="Arial"/>
                <a:cs typeface="Arial"/>
                <a:sym typeface="Arial"/>
                <a:hlinkClick r:id="rId3" tooltip="MOVEit"/>
              </a:rPr>
              <a:t>MOVEit</a:t>
            </a:r>
            <a:r>
              <a:rPr lang="en-US" sz="1100" b="0" i="0" u="none" strike="noStrike" kern="1200" cap="none" dirty="0">
                <a:solidFill>
                  <a:schemeClr val="dk1"/>
                </a:solidFill>
                <a:effectLst/>
                <a:latin typeface="Arial"/>
                <a:ea typeface="Arial"/>
                <a:cs typeface="Arial"/>
                <a:sym typeface="Arial"/>
              </a:rPr>
              <a:t>, a widely used </a:t>
            </a:r>
            <a:r>
              <a:rPr lang="en-US" sz="1100" b="0" i="0" u="none" strike="noStrike" kern="1200" cap="none" dirty="0">
                <a:solidFill>
                  <a:schemeClr val="dk1"/>
                </a:solidFill>
                <a:effectLst/>
                <a:latin typeface="Arial"/>
                <a:ea typeface="Arial"/>
                <a:cs typeface="Arial"/>
                <a:sym typeface="Arial"/>
                <a:hlinkClick r:id="rId4" tooltip="File transfer service"/>
              </a:rPr>
              <a:t>file-transfer service</a:t>
            </a:r>
            <a:r>
              <a:rPr lang="en-US" sz="1100" b="0" i="0" u="none" strike="noStrike" kern="1200" cap="none" dirty="0">
                <a:solidFill>
                  <a:schemeClr val="dk1"/>
                </a:solidFill>
                <a:effectLst/>
                <a:latin typeface="Arial"/>
                <a:ea typeface="Arial"/>
                <a:cs typeface="Arial"/>
                <a:sym typeface="Arial"/>
              </a:rPr>
              <a:t>. The attacks, attributed to the Russian-speaking cybercrime group </a:t>
            </a:r>
            <a:r>
              <a:rPr lang="en-US" sz="1100" b="0" i="0" u="none" strike="noStrike" kern="1200" cap="none" dirty="0">
                <a:solidFill>
                  <a:schemeClr val="dk1"/>
                </a:solidFill>
                <a:effectLst/>
                <a:latin typeface="Arial"/>
                <a:ea typeface="Arial"/>
                <a:cs typeface="Arial"/>
                <a:sym typeface="Arial"/>
                <a:hlinkClick r:id="rId5" tooltip="Clop (cyber gang)"/>
              </a:rPr>
              <a:t>Clop</a:t>
            </a:r>
            <a:r>
              <a:rPr lang="en-US" sz="1100" b="0" i="0" u="none" strike="noStrike" kern="1200" cap="none" dirty="0">
                <a:solidFill>
                  <a:schemeClr val="dk1"/>
                </a:solidFill>
                <a:effectLst/>
                <a:latin typeface="Arial"/>
                <a:ea typeface="Arial"/>
                <a:cs typeface="Arial"/>
                <a:sym typeface="Arial"/>
              </a:rPr>
              <a:t>, compromised multiple global organizations, including payroll provider </a:t>
            </a:r>
            <a:r>
              <a:rPr lang="en-US" sz="1100" b="0" i="0" u="none" strike="noStrike" kern="1200" cap="none" dirty="0" err="1">
                <a:solidFill>
                  <a:schemeClr val="dk1"/>
                </a:solidFill>
                <a:effectLst/>
                <a:latin typeface="Arial"/>
                <a:ea typeface="Arial"/>
                <a:cs typeface="Arial"/>
                <a:sym typeface="Arial"/>
              </a:rPr>
              <a:t>Zellis</a:t>
            </a:r>
            <a:r>
              <a:rPr lang="en-US" sz="1100" b="0" i="0" u="none" strike="noStrike" kern="1200" cap="none" dirty="0">
                <a:solidFill>
                  <a:schemeClr val="dk1"/>
                </a:solidFill>
                <a:effectLst/>
                <a:latin typeface="Arial"/>
                <a:ea typeface="Arial"/>
                <a:cs typeface="Arial"/>
                <a:sym typeface="Arial"/>
              </a:rPr>
              <a:t>, </a:t>
            </a:r>
            <a:r>
              <a:rPr lang="en-US" sz="1100" b="0" i="0" u="none" strike="noStrike" kern="1200" cap="none" dirty="0">
                <a:solidFill>
                  <a:schemeClr val="dk1"/>
                </a:solidFill>
                <a:effectLst/>
                <a:latin typeface="Arial"/>
                <a:ea typeface="Arial"/>
                <a:cs typeface="Arial"/>
                <a:sym typeface="Arial"/>
                <a:hlinkClick r:id="rId6" tooltip="British Airways"/>
              </a:rPr>
              <a:t>British Airways</a:t>
            </a:r>
            <a:r>
              <a:rPr lang="en-US" sz="1100" b="0" i="0" u="none" strike="noStrike" kern="1200" cap="none" dirty="0">
                <a:solidFill>
                  <a:schemeClr val="dk1"/>
                </a:solidFill>
                <a:effectLst/>
                <a:latin typeface="Arial"/>
                <a:ea typeface="Arial"/>
                <a:cs typeface="Arial"/>
                <a:sym typeface="Arial"/>
              </a:rPr>
              <a:t>, the </a:t>
            </a:r>
            <a:r>
              <a:rPr lang="en-US" sz="1100" b="0" i="0" u="none" strike="noStrike" kern="1200" cap="none" dirty="0">
                <a:solidFill>
                  <a:schemeClr val="dk1"/>
                </a:solidFill>
                <a:effectLst/>
                <a:latin typeface="Arial"/>
                <a:ea typeface="Arial"/>
                <a:cs typeface="Arial"/>
                <a:sym typeface="Arial"/>
                <a:hlinkClick r:id="rId7" tooltip="BBC"/>
              </a:rPr>
              <a:t>BBC</a:t>
            </a:r>
            <a:r>
              <a:rPr lang="en-US" sz="1100" b="0" i="0" u="none" strike="noStrike" kern="1200" cap="none" dirty="0">
                <a:solidFill>
                  <a:schemeClr val="dk1"/>
                </a:solidFill>
                <a:effectLst/>
                <a:latin typeface="Arial"/>
                <a:ea typeface="Arial"/>
                <a:cs typeface="Arial"/>
                <a:sym typeface="Arial"/>
              </a:rPr>
              <a:t>, and UK retailer </a:t>
            </a:r>
            <a:r>
              <a:rPr lang="en-US" sz="1100" b="0" i="0" u="none" strike="noStrike" kern="1200" cap="none" dirty="0">
                <a:solidFill>
                  <a:schemeClr val="dk1"/>
                </a:solidFill>
                <a:effectLst/>
                <a:latin typeface="Arial"/>
                <a:ea typeface="Arial"/>
                <a:cs typeface="Arial"/>
                <a:sym typeface="Arial"/>
                <a:hlinkClick r:id="rId8" tooltip="Boots (company)"/>
              </a:rPr>
              <a:t>Boots</a:t>
            </a:r>
            <a:r>
              <a:rPr lang="en-US" sz="1100" b="0" i="0" u="none" strike="noStrike" kern="1200" cap="none" dirty="0">
                <a:solidFill>
                  <a:schemeClr val="dk1"/>
                </a:solidFill>
                <a:effectLst/>
                <a:latin typeface="Arial"/>
                <a:ea typeface="Arial"/>
                <a:cs typeface="Arial"/>
                <a:sym typeface="Arial"/>
              </a:rPr>
              <a:t>.</a:t>
            </a:r>
            <a:endParaRPr lang="en-US" sz="1100" b="0" i="0" u="none" strike="noStrike" cap="none" dirty="0">
              <a:solidFill>
                <a:schemeClr val="dk1"/>
              </a:solidFill>
              <a:latin typeface="Arial"/>
              <a:ea typeface="Arial"/>
              <a:cs typeface="Arial"/>
              <a:sym typeface="Arial"/>
            </a:endParaRPr>
          </a:p>
          <a:p>
            <a:pPr lvl="0">
              <a:spcBef>
                <a:spcPts val="0"/>
              </a:spcBef>
              <a:buNone/>
            </a:pPr>
            <a:endParaRPr dirty="0"/>
          </a:p>
        </p:txBody>
      </p:sp>
      <p:sp>
        <p:nvSpPr>
          <p:cNvPr id="321" name="Shape 3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Shape 32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327" name="Shape 32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Shape 33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333" name="Shape 33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Shape 338"/>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339" name="Shape 33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Shape 34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345" name="Shape 34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Shape 35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351" name="Shape 35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Shape 35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357" name="Shape 35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Shape 36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363" name="Shape 36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pSp>
        <p:nvGrpSpPr>
          <p:cNvPr id="10" name="Group 9"/>
          <p:cNvGrpSpPr/>
          <p:nvPr/>
        </p:nvGrpSpPr>
        <p:grpSpPr>
          <a:xfrm>
            <a:off x="2249552" y="3401981"/>
            <a:ext cx="5372100" cy="2059641"/>
            <a:chOff x="914400" y="3657600"/>
            <a:chExt cx="7162800" cy="2059641"/>
          </a:xfrm>
        </p:grpSpPr>
        <p:sp>
          <p:nvSpPr>
            <p:cNvPr id="11" name="Rectangle 10"/>
            <p:cNvSpPr/>
            <p:nvPr/>
          </p:nvSpPr>
          <p:spPr>
            <a:xfrm>
              <a:off x="914400" y="3657600"/>
              <a:ext cx="7162800" cy="1295400"/>
            </a:xfrm>
            <a:prstGeom prst="rect">
              <a:avLst/>
            </a:prstGeom>
            <a:noFill/>
            <a:ln w="12700">
              <a:solidFill>
                <a:srgbClr val="2955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Rectangle 11"/>
            <p:cNvSpPr/>
            <p:nvPr/>
          </p:nvSpPr>
          <p:spPr>
            <a:xfrm>
              <a:off x="914400" y="5069541"/>
              <a:ext cx="7162800" cy="647700"/>
            </a:xfrm>
            <a:prstGeom prst="rect">
              <a:avLst/>
            </a:prstGeom>
            <a:noFill/>
            <a:ln w="12700">
              <a:solidFill>
                <a:srgbClr val="2955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Rectangle 12"/>
            <p:cNvSpPr/>
            <p:nvPr/>
          </p:nvSpPr>
          <p:spPr>
            <a:xfrm>
              <a:off x="914400" y="3657600"/>
              <a:ext cx="228600" cy="1295400"/>
            </a:xfrm>
            <a:prstGeom prst="rect">
              <a:avLst/>
            </a:prstGeom>
            <a:solidFill>
              <a:srgbClr val="2955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ectangle 13"/>
            <p:cNvSpPr/>
            <p:nvPr/>
          </p:nvSpPr>
          <p:spPr>
            <a:xfrm>
              <a:off x="914400" y="5069541"/>
              <a:ext cx="228600" cy="647700"/>
            </a:xfrm>
            <a:prstGeom prst="rect">
              <a:avLst/>
            </a:prstGeom>
            <a:solidFill>
              <a:srgbClr val="2955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15" name="Title 1"/>
          <p:cNvSpPr>
            <a:spLocks noGrp="1"/>
          </p:cNvSpPr>
          <p:nvPr>
            <p:ph type="ctrTitle" hasCustomPrompt="1"/>
          </p:nvPr>
        </p:nvSpPr>
        <p:spPr>
          <a:xfrm>
            <a:off x="2629775" y="3616586"/>
            <a:ext cx="4611655" cy="803564"/>
          </a:xfrm>
          <a:prstGeom prst="rect">
            <a:avLst/>
          </a:prstGeom>
        </p:spPr>
        <p:txBody>
          <a:bodyPr anchor="b">
            <a:noAutofit/>
          </a:bodyPr>
          <a:lstStyle>
            <a:lvl1pPr algn="l">
              <a:defRPr lang="en-US" sz="3000" b="1" kern="1200" baseline="0" dirty="0" smtClean="0">
                <a:solidFill>
                  <a:srgbClr val="2955A6"/>
                </a:solidFill>
                <a:latin typeface="+mj-lt"/>
                <a:ea typeface="+mj-ea"/>
                <a:cs typeface="+mj-cs"/>
              </a:defRPr>
            </a:lvl1pPr>
          </a:lstStyle>
          <a:p>
            <a:r>
              <a:rPr lang="en-US" dirty="0"/>
              <a:t>Module Name</a:t>
            </a:r>
          </a:p>
        </p:txBody>
      </p:sp>
      <p:sp>
        <p:nvSpPr>
          <p:cNvPr id="20" name="Text Placeholder 19"/>
          <p:cNvSpPr>
            <a:spLocks noGrp="1"/>
          </p:cNvSpPr>
          <p:nvPr>
            <p:ph type="body" sz="quarter" idx="13"/>
          </p:nvPr>
        </p:nvSpPr>
        <p:spPr>
          <a:xfrm>
            <a:off x="2629775" y="4998325"/>
            <a:ext cx="4220429" cy="278892"/>
          </a:xfrm>
          <a:prstGeom prst="rect">
            <a:avLst/>
          </a:prstGeom>
        </p:spPr>
        <p:txBody>
          <a:bodyPr anchor="ctr"/>
          <a:lstStyle>
            <a:lvl1pPr marL="0" indent="0">
              <a:buNone/>
              <a:defRPr/>
            </a:lvl1pPr>
            <a:lvl3pPr marL="685800" indent="0">
              <a:buNone/>
              <a:defRPr/>
            </a:lvl3pPr>
            <a:lvl5pPr marL="1371600" indent="0" algn="l">
              <a:buNone/>
              <a:defRPr/>
            </a:lvl5pPr>
          </a:lstStyle>
          <a:p>
            <a:pPr lvl="0"/>
            <a:r>
              <a:rPr lang="en-US"/>
              <a:t>Edit Master text styles</a:t>
            </a:r>
          </a:p>
        </p:txBody>
      </p:sp>
      <p:pic>
        <p:nvPicPr>
          <p:cNvPr id="2" name="Picture 1"/>
          <p:cNvPicPr>
            <a:picLocks noChangeAspect="1"/>
          </p:cNvPicPr>
          <p:nvPr/>
        </p:nvPicPr>
        <p:blipFill>
          <a:blip r:embed="rId2"/>
          <a:stretch>
            <a:fillRect/>
          </a:stretch>
        </p:blipFill>
        <p:spPr>
          <a:xfrm>
            <a:off x="417271" y="283768"/>
            <a:ext cx="1883002" cy="1870957"/>
          </a:xfrm>
          <a:prstGeom prst="rect">
            <a:avLst/>
          </a:prstGeom>
        </p:spPr>
      </p:pic>
      <p:pic>
        <p:nvPicPr>
          <p:cNvPr id="3" name="Picture 2"/>
          <p:cNvPicPr>
            <a:picLocks noChangeAspect="1"/>
          </p:cNvPicPr>
          <p:nvPr/>
        </p:nvPicPr>
        <p:blipFill>
          <a:blip r:embed="rId3"/>
          <a:stretch>
            <a:fillRect/>
          </a:stretch>
        </p:blipFill>
        <p:spPr>
          <a:xfrm>
            <a:off x="7414634" y="283768"/>
            <a:ext cx="1210054" cy="1210054"/>
          </a:xfrm>
          <a:prstGeom prst="rect">
            <a:avLst/>
          </a:prstGeom>
        </p:spPr>
      </p:pic>
    </p:spTree>
    <p:extLst>
      <p:ext uri="{BB962C8B-B14F-4D97-AF65-F5344CB8AC3E}">
        <p14:creationId xmlns:p14="http://schemas.microsoft.com/office/powerpoint/2010/main" val="1237702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365126"/>
            <a:ext cx="7886700" cy="1325563"/>
          </a:xfrm>
          <a:prstGeom prst="rect">
            <a:avLst/>
          </a:prstGeom>
        </p:spPr>
        <p:txBody>
          <a:bodyPr/>
          <a:lstStyle>
            <a:lvl1pPr>
              <a:defRPr/>
            </a:lvl1pPr>
          </a:lstStyle>
          <a:p>
            <a:r>
              <a:rPr lang="en-US" dirty="0"/>
              <a:t>Slide Title</a:t>
            </a:r>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4049261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4020635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773767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2203085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3464327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7" name="Slide Number Placeholder 6"/>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2570797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7" name="Slide Number Placeholder 6"/>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589463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Last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92587" y="187779"/>
            <a:ext cx="5550681" cy="6670221"/>
          </a:xfrm>
          <a:prstGeom prst="rect">
            <a:avLst/>
          </a:prstGeom>
        </p:spPr>
      </p:pic>
    </p:spTree>
    <p:extLst>
      <p:ext uri="{BB962C8B-B14F-4D97-AF65-F5344CB8AC3E}">
        <p14:creationId xmlns:p14="http://schemas.microsoft.com/office/powerpoint/2010/main" val="245493262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hyperlink" Target="http://www.c5colleges.org/" TargetMode="Externa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hyperlink" Target="https://creativecommons.org/licenses/by/4.0/" TargetMode="Externa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title="Page Number"/>
          <p:cNvSpPr>
            <a:spLocks noGrp="1"/>
          </p:cNvSpPr>
          <p:nvPr>
            <p:ph type="sldNum" sz="quarter" idx="4"/>
          </p:nvPr>
        </p:nvSpPr>
        <p:spPr>
          <a:xfrm>
            <a:off x="8019661" y="6329898"/>
            <a:ext cx="49568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026FE3C-7E70-4420-AA12-392E0D4EE99D}" type="slidenum">
              <a:rPr lang="en-US" smtClean="0"/>
              <a:t>‹#›</a:t>
            </a:fld>
            <a:endParaRPr lang="en-US" dirty="0"/>
          </a:p>
        </p:txBody>
      </p:sp>
      <p:sp>
        <p:nvSpPr>
          <p:cNvPr id="7" name="Title Placeholder 6"/>
          <p:cNvSpPr>
            <a:spLocks noGrp="1"/>
          </p:cNvSpPr>
          <p:nvPr>
            <p:ph type="title"/>
          </p:nvPr>
        </p:nvSpPr>
        <p:spPr>
          <a:xfrm>
            <a:off x="628650" y="457200"/>
            <a:ext cx="5685995" cy="1101133"/>
          </a:xfrm>
          <a:prstGeom prst="rect">
            <a:avLst/>
          </a:prstGeom>
        </p:spPr>
        <p:txBody>
          <a:bodyPr vert="horz" lIns="91440" tIns="45720" rIns="91440" bIns="45720" rtlCol="0" anchor="ctr">
            <a:normAutofit/>
          </a:bodyPr>
          <a:lstStyle/>
          <a:p>
            <a:r>
              <a:rPr lang="en-US"/>
              <a:t>Click to edit Master title style</a:t>
            </a:r>
            <a:endParaRPr lang="en-US" dirty="0"/>
          </a:p>
        </p:txBody>
      </p:sp>
      <p:pic>
        <p:nvPicPr>
          <p:cNvPr id="12" name="Picture 11" title="Creative Commons Logo"/>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28650" y="6463019"/>
            <a:ext cx="720197" cy="295275"/>
          </a:xfrm>
          <a:prstGeom prst="rect">
            <a:avLst/>
          </a:prstGeom>
        </p:spPr>
      </p:pic>
      <p:sp>
        <p:nvSpPr>
          <p:cNvPr id="4" name="Text Placeholder 3"/>
          <p:cNvSpPr>
            <a:spLocks noGrp="1"/>
          </p:cNvSpPr>
          <p:nvPr>
            <p:ph type="body" idx="1"/>
          </p:nvPr>
        </p:nvSpPr>
        <p:spPr>
          <a:xfrm>
            <a:off x="628650" y="1825625"/>
            <a:ext cx="7886700" cy="4482632"/>
          </a:xfrm>
          <a:prstGeom prst="rect">
            <a:avLst/>
          </a:prstGeom>
        </p:spPr>
        <p:txBody>
          <a:bodyPr vert="horz" lIns="91440" tIns="45720" rIns="91440" bIns="45720" rtlCol="0">
            <a:norm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Click to edit M</a:t>
            </a:r>
          </a:p>
          <a:p>
            <a:pPr lvl="0"/>
            <a:r>
              <a:rPr lang="en-US" dirty="0"/>
              <a:t>aster text styles</a:t>
            </a:r>
          </a:p>
          <a:p>
            <a:pPr lvl="1"/>
            <a:r>
              <a:rPr lang="en-US" dirty="0"/>
              <a:t>Second </a:t>
            </a:r>
            <a:r>
              <a:rPr lang="en-US" dirty="0" err="1"/>
              <a:t>levelThird</a:t>
            </a:r>
            <a:r>
              <a:rPr lang="en-US" dirty="0"/>
              <a:t> level</a:t>
            </a:r>
          </a:p>
          <a:p>
            <a:pPr lvl="3"/>
            <a:r>
              <a:rPr lang="en-US" dirty="0"/>
              <a:t>Fourth level</a:t>
            </a:r>
          </a:p>
          <a:p>
            <a:pPr lvl="4"/>
            <a:r>
              <a:rPr lang="en-US" dirty="0"/>
              <a:t>Fifth level</a:t>
            </a:r>
          </a:p>
        </p:txBody>
      </p:sp>
      <p:sp>
        <p:nvSpPr>
          <p:cNvPr id="13" name="Rectangle 2"/>
          <p:cNvSpPr>
            <a:spLocks noChangeArrowheads="1"/>
          </p:cNvSpPr>
          <p:nvPr/>
        </p:nvSpPr>
        <p:spPr bwMode="auto">
          <a:xfrm>
            <a:off x="1" y="90100"/>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15" name="Rectangle 3"/>
          <p:cNvSpPr>
            <a:spLocks noChangeArrowheads="1"/>
          </p:cNvSpPr>
          <p:nvPr/>
        </p:nvSpPr>
        <p:spPr bwMode="auto">
          <a:xfrm rot="10800000" flipV="1">
            <a:off x="1397918" y="6512460"/>
            <a:ext cx="4147458"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1pPr>
            <a:lvl2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2pPr>
            <a:lvl3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3pPr>
            <a:lvl4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4pPr>
            <a:lvl5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5pPr>
            <a:lvl6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6pPr>
            <a:lvl7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7pPr>
            <a:lvl8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8pPr>
            <a:lvl9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9pPr>
          </a:lstStyle>
          <a:p>
            <a:pPr marL="0" marR="0" lvl="0" indent="0" algn="l" defTabSz="685800" rtl="0" eaLnBrk="0" fontAlgn="base" latinLnBrk="0" hangingPunct="0">
              <a:lnSpc>
                <a:spcPct val="100000"/>
              </a:lnSpc>
              <a:spcBef>
                <a:spcPct val="0"/>
              </a:spcBef>
              <a:spcAft>
                <a:spcPct val="0"/>
              </a:spcAft>
              <a:buClrTx/>
              <a:buSzTx/>
              <a:buFontTx/>
              <a:buNone/>
              <a:tabLst>
                <a:tab pos="2228850" algn="ctr"/>
                <a:tab pos="4457700" algn="r"/>
              </a:tabLst>
            </a:pPr>
            <a:r>
              <a:rPr kumimoji="0" lang="en-US" altLang="en-US" sz="525"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This document is licensed with a </a:t>
            </a:r>
            <a:r>
              <a:rPr kumimoji="0" lang="en-US" altLang="en-US" sz="525"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hlinkClick r:id="rId12"/>
              </a:rPr>
              <a:t>Creative Commons Attribution 4.0 International License</a:t>
            </a:r>
            <a:r>
              <a:rPr kumimoji="0" lang="en-US" altLang="en-US" sz="525" b="0" i="0" u="none" strike="noStrike" cap="none" normalizeH="0" baseline="0" dirty="0">
                <a:ln>
                  <a:noFill/>
                </a:ln>
                <a:solidFill>
                  <a:srgbClr val="0070C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525"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©2017  </a:t>
            </a: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hlinkClick r:id="rId13"/>
              </a:rPr>
              <a:t>www.C5colleges.org</a:t>
            </a:r>
            <a:endParaRPr kumimoji="0" lang="en-US" altLang="en-US" sz="135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0092813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marR="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industrialcyber.co/reports/global-ransomware-attacks-rose-32-in-2025-as-manufacturers-emerged-as-top-target/#:~:text=Comparitech%20reported%20that%20in%202025,confirmed%20by%20the%20targeted%20organizations."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www.owasp.org/"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Shape 245"/>
          <p:cNvSpPr txBox="1">
            <a:spLocks noGrp="1"/>
          </p:cNvSpPr>
          <p:nvPr>
            <p:ph type="ctr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dirty="0">
                <a:solidFill>
                  <a:srgbClr val="2955A6"/>
                </a:solidFill>
                <a:latin typeface="Calibri"/>
                <a:ea typeface="Calibri"/>
                <a:cs typeface="Calibri"/>
                <a:sym typeface="Calibri"/>
              </a:rPr>
              <a:t>Viruses</a:t>
            </a:r>
          </a:p>
        </p:txBody>
      </p:sp>
      <p:sp>
        <p:nvSpPr>
          <p:cNvPr id="246" name="Shape 246"/>
          <p:cNvSpPr txBox="1">
            <a:spLocks noGrp="1"/>
          </p:cNvSpPr>
          <p:nvPr>
            <p:ph type="body" sz="quarter" idx="13"/>
          </p:nvPr>
        </p:nvSpPr>
        <p:spPr>
          <a:prstGeom prst="rect">
            <a:avLst/>
          </a:prstGeom>
          <a:noFill/>
          <a:ln>
            <a:noFill/>
          </a:ln>
        </p:spPr>
        <p:txBody>
          <a:bodyPr lIns="91425" tIns="45700" rIns="91425" bIns="45700" anchor="t" anchorCtr="0">
            <a:noAutofit/>
          </a:bodyPr>
          <a:lstStyle/>
          <a:p>
            <a:pPr marL="0" marR="0" lvl="0" indent="0" algn="ctr" rtl="0">
              <a:spcBef>
                <a:spcPts val="0"/>
              </a:spcBef>
              <a:buClr>
                <a:srgbClr val="2955A6"/>
              </a:buClr>
              <a:buSzPct val="25000"/>
              <a:buFont typeface="Arial"/>
              <a:buNone/>
            </a:pPr>
            <a:r>
              <a:rPr lang="en-US" sz="3200" b="0" i="0" u="none" strike="noStrike" cap="none" dirty="0">
                <a:solidFill>
                  <a:srgbClr val="2955A6"/>
                </a:solidFill>
                <a:latin typeface="Calibri"/>
                <a:ea typeface="Calibri"/>
                <a:cs typeface="Calibri"/>
                <a:sym typeface="Calibri"/>
              </a:rPr>
              <a:t>Offensive Vocabulary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Shape 251"/>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Malware</a:t>
            </a:r>
          </a:p>
        </p:txBody>
      </p:sp>
      <p:sp>
        <p:nvSpPr>
          <p:cNvPr id="252" name="Shape 252"/>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Malware, or malicious software, takes on many forms, among them viruses, worms, spyware, Trojan horses, etc. </a:t>
            </a:r>
          </a:p>
          <a:p>
            <a:pPr marL="342900" marR="0" lvl="0" indent="-342900" algn="l" rtl="0">
              <a:spcBef>
                <a:spcPts val="56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Like a biological virus, computer viruses replicate between hosts, delivering their payload (malicious action).</a:t>
            </a:r>
          </a:p>
          <a:p>
            <a:pPr marL="342900" marR="0" lvl="0" indent="-342900" algn="l" rtl="0">
              <a:spcBef>
                <a:spcPts val="560"/>
              </a:spcBef>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Symptoms of malware include file size increases, unusual disk or CPU activity, increase in disk space use, unusual slowness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Shape 257"/>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Malware Characteristics</a:t>
            </a:r>
          </a:p>
        </p:txBody>
      </p:sp>
      <p:sp>
        <p:nvSpPr>
          <p:cNvPr id="258" name="Shape 258"/>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Malware can be defined by certain behaviors, among them:</a:t>
            </a:r>
          </a:p>
          <a:p>
            <a:pPr marL="1143000" marR="0" lvl="2" indent="-228600" algn="l" rtl="0">
              <a:spcBef>
                <a:spcPts val="400"/>
              </a:spcBef>
              <a:spcAft>
                <a:spcPts val="0"/>
              </a:spcAft>
              <a:buClr>
                <a:srgbClr val="2955A6"/>
              </a:buClr>
              <a:buSzPct val="100000"/>
              <a:buFont typeface="Arial"/>
              <a:buChar char="•"/>
            </a:pPr>
            <a:r>
              <a:rPr lang="en-US" sz="2000" b="1" i="0" u="none" strike="noStrike" cap="none">
                <a:solidFill>
                  <a:srgbClr val="2955A6"/>
                </a:solidFill>
                <a:latin typeface="Calibri"/>
                <a:ea typeface="Calibri"/>
                <a:cs typeface="Calibri"/>
                <a:sym typeface="Calibri"/>
              </a:rPr>
              <a:t>Insertion</a:t>
            </a:r>
            <a:r>
              <a:rPr lang="en-US" sz="2000" b="0" i="0" u="none" strike="noStrike" cap="none">
                <a:solidFill>
                  <a:srgbClr val="2955A6"/>
                </a:solidFill>
                <a:latin typeface="Calibri"/>
                <a:ea typeface="Calibri"/>
                <a:cs typeface="Calibri"/>
                <a:sym typeface="Calibri"/>
              </a:rPr>
              <a:t> – how the code installs itself on the victim’s system</a:t>
            </a:r>
          </a:p>
          <a:p>
            <a:pPr marL="1143000" marR="0" lvl="2" indent="-228600" algn="l" rtl="0">
              <a:spcBef>
                <a:spcPts val="400"/>
              </a:spcBef>
              <a:spcAft>
                <a:spcPts val="0"/>
              </a:spcAft>
              <a:buClr>
                <a:srgbClr val="2955A6"/>
              </a:buClr>
              <a:buSzPct val="100000"/>
              <a:buFont typeface="Arial"/>
              <a:buChar char="•"/>
            </a:pPr>
            <a:r>
              <a:rPr lang="en-US" sz="2000" b="1" i="0" u="none" strike="noStrike" cap="none">
                <a:solidFill>
                  <a:srgbClr val="2955A6"/>
                </a:solidFill>
                <a:latin typeface="Calibri"/>
                <a:ea typeface="Calibri"/>
                <a:cs typeface="Calibri"/>
                <a:sym typeface="Calibri"/>
              </a:rPr>
              <a:t>Avoidance </a:t>
            </a:r>
            <a:r>
              <a:rPr lang="en-US" sz="2000" b="0" i="0" u="none" strike="noStrike" cap="none">
                <a:solidFill>
                  <a:srgbClr val="2955A6"/>
                </a:solidFill>
                <a:latin typeface="Calibri"/>
                <a:ea typeface="Calibri"/>
                <a:cs typeface="Calibri"/>
                <a:sym typeface="Calibri"/>
              </a:rPr>
              <a:t>– acts the malware takes to avoid detection from anti-virus software (stealthiness). Polymorphic viruses change their code routinely</a:t>
            </a:r>
          </a:p>
          <a:p>
            <a:pPr marL="1143000" marR="0" lvl="2" indent="-228600" algn="l" rtl="0">
              <a:spcBef>
                <a:spcPts val="400"/>
              </a:spcBef>
              <a:spcAft>
                <a:spcPts val="0"/>
              </a:spcAft>
              <a:buClr>
                <a:srgbClr val="2955A6"/>
              </a:buClr>
              <a:buSzPct val="100000"/>
              <a:buFont typeface="Arial"/>
              <a:buChar char="•"/>
            </a:pPr>
            <a:r>
              <a:rPr lang="en-US" sz="2000" b="1" i="0" u="none" strike="noStrike" cap="none">
                <a:solidFill>
                  <a:srgbClr val="2955A6"/>
                </a:solidFill>
                <a:latin typeface="Calibri"/>
                <a:ea typeface="Calibri"/>
                <a:cs typeface="Calibri"/>
                <a:sym typeface="Calibri"/>
              </a:rPr>
              <a:t>Eradication</a:t>
            </a:r>
            <a:r>
              <a:rPr lang="en-US" sz="2000" b="0" i="0" u="none" strike="noStrike" cap="none">
                <a:solidFill>
                  <a:srgbClr val="2955A6"/>
                </a:solidFill>
                <a:latin typeface="Calibri"/>
                <a:ea typeface="Calibri"/>
                <a:cs typeface="Calibri"/>
                <a:sym typeface="Calibri"/>
              </a:rPr>
              <a:t> – steps the virus takes to eliminate traces after delivering the payload</a:t>
            </a:r>
          </a:p>
          <a:p>
            <a:pPr marL="1143000" marR="0" lvl="2" indent="-228600" algn="l" rtl="0">
              <a:spcBef>
                <a:spcPts val="400"/>
              </a:spcBef>
              <a:spcAft>
                <a:spcPts val="0"/>
              </a:spcAft>
              <a:buClr>
                <a:srgbClr val="2955A6"/>
              </a:buClr>
              <a:buSzPct val="100000"/>
              <a:buFont typeface="Arial"/>
              <a:buChar char="•"/>
            </a:pPr>
            <a:r>
              <a:rPr lang="en-US" sz="2000" b="1" i="0" u="none" strike="noStrike" cap="none">
                <a:solidFill>
                  <a:srgbClr val="2955A6"/>
                </a:solidFill>
                <a:latin typeface="Calibri"/>
                <a:ea typeface="Calibri"/>
                <a:cs typeface="Calibri"/>
                <a:sym typeface="Calibri"/>
              </a:rPr>
              <a:t>Replication</a:t>
            </a:r>
            <a:r>
              <a:rPr lang="en-US" sz="2000" b="0" i="0" u="none" strike="noStrike" cap="none">
                <a:solidFill>
                  <a:srgbClr val="2955A6"/>
                </a:solidFill>
                <a:latin typeface="Calibri"/>
                <a:ea typeface="Calibri"/>
                <a:cs typeface="Calibri"/>
                <a:sym typeface="Calibri"/>
              </a:rPr>
              <a:t> – how the code copies itself to other systems</a:t>
            </a:r>
          </a:p>
          <a:p>
            <a:pPr marL="1143000" marR="0" lvl="2" indent="-228600" algn="l" rtl="0">
              <a:spcBef>
                <a:spcPts val="400"/>
              </a:spcBef>
              <a:spcAft>
                <a:spcPts val="0"/>
              </a:spcAft>
              <a:buClr>
                <a:srgbClr val="2955A6"/>
              </a:buClr>
              <a:buSzPct val="100000"/>
              <a:buFont typeface="Arial"/>
              <a:buChar char="•"/>
            </a:pPr>
            <a:r>
              <a:rPr lang="en-US" sz="2000" b="1" i="0" u="none" strike="noStrike" cap="none">
                <a:solidFill>
                  <a:srgbClr val="2955A6"/>
                </a:solidFill>
                <a:latin typeface="Calibri"/>
                <a:ea typeface="Calibri"/>
                <a:cs typeface="Calibri"/>
                <a:sym typeface="Calibri"/>
              </a:rPr>
              <a:t>Trigger </a:t>
            </a:r>
            <a:r>
              <a:rPr lang="en-US" sz="2000" b="0" i="0" u="none" strike="noStrike" cap="none">
                <a:solidFill>
                  <a:srgbClr val="2955A6"/>
                </a:solidFill>
                <a:latin typeface="Calibri"/>
                <a:ea typeface="Calibri"/>
                <a:cs typeface="Calibri"/>
                <a:sym typeface="Calibri"/>
              </a:rPr>
              <a:t>– what actions result in the virus delivering its payload</a:t>
            </a:r>
          </a:p>
          <a:p>
            <a:pPr marL="1143000" marR="0" lvl="2" indent="-228600" algn="l" rtl="0">
              <a:spcBef>
                <a:spcPts val="400"/>
              </a:spcBef>
              <a:buClr>
                <a:srgbClr val="2955A6"/>
              </a:buClr>
              <a:buSzPct val="100000"/>
              <a:buFont typeface="Arial"/>
              <a:buChar char="•"/>
            </a:pPr>
            <a:r>
              <a:rPr lang="en-US" sz="2000" b="1" i="0" u="none" strike="noStrike" cap="none">
                <a:solidFill>
                  <a:srgbClr val="2955A6"/>
                </a:solidFill>
                <a:latin typeface="Calibri"/>
                <a:ea typeface="Calibri"/>
                <a:cs typeface="Calibri"/>
                <a:sym typeface="Calibri"/>
              </a:rPr>
              <a:t>Payload</a:t>
            </a:r>
            <a:r>
              <a:rPr lang="en-US" sz="2000" b="0" i="0" u="none" strike="noStrike" cap="none">
                <a:solidFill>
                  <a:srgbClr val="2955A6"/>
                </a:solidFill>
                <a:latin typeface="Calibri"/>
                <a:ea typeface="Calibri"/>
                <a:cs typeface="Calibri"/>
                <a:sym typeface="Calibri"/>
              </a:rPr>
              <a:t>- the end action (deleting files, sending email, installing a backdoor)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Shape 263"/>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Worms and Viruses	</a:t>
            </a:r>
          </a:p>
        </p:txBody>
      </p:sp>
      <p:sp>
        <p:nvSpPr>
          <p:cNvPr id="264" name="Shape 264"/>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Viruses are malware that replicate after some user action, such as opening a file.</a:t>
            </a:r>
          </a:p>
          <a:p>
            <a:pPr marL="342900" marR="0" lvl="0" indent="-342900" algn="l" rtl="0">
              <a:spcBef>
                <a:spcPts val="560"/>
              </a:spcBef>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Unlike viruses, worms do not need user action to replicate.  Worms spread autonomously, seeking and exploiting specific vulnerabilities to load onto systems and replicate to other systems.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Shape 269"/>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Worms and Viruses	</a:t>
            </a:r>
          </a:p>
        </p:txBody>
      </p:sp>
      <p:sp>
        <p:nvSpPr>
          <p:cNvPr id="270" name="Shape 270"/>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Viruses are strings of malware dependent on human action to execute</a:t>
            </a:r>
          </a:p>
          <a:p>
            <a:pPr marL="342900" marR="0" lvl="0" indent="-342900" algn="l" rtl="0">
              <a:spcBef>
                <a:spcPts val="56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Unlike viruses, worms do not need user action to replicate.  Worms spread autonomously, seeking and exploiting specific vulnerabilities to load onto systems and replicate to other systems. </a:t>
            </a:r>
          </a:p>
          <a:p>
            <a:pPr marL="342900" marR="0" lvl="0" indent="-342900" algn="l" rtl="0">
              <a:spcBef>
                <a:spcPts val="56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Examples of worms are:</a:t>
            </a:r>
          </a:p>
          <a:p>
            <a:pPr marL="742950" marR="0" lvl="1" indent="-285750" algn="l" rtl="0">
              <a:spcBef>
                <a:spcPts val="480"/>
              </a:spcBef>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Morris Worm, Melissa, Nimda, Sobig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Shape 275"/>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Logic Bombs</a:t>
            </a:r>
          </a:p>
        </p:txBody>
      </p:sp>
      <p:sp>
        <p:nvSpPr>
          <p:cNvPr id="276" name="Shape 276"/>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Logic bombs execute a program, or string of code, when certain conditions are met. For instance, a payroll checking program that checks for the presence of an employees name on the payroll each pay. If that employee is not there – it executes and does damage </a:t>
            </a:r>
          </a:p>
          <a:p>
            <a:pPr marL="342900" marR="0" lvl="0" indent="-342900" algn="l" rtl="0">
              <a:spcBef>
                <a:spcPts val="56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Time bombs, on the other hand, is malware that executes at a specific time.</a:t>
            </a:r>
          </a:p>
          <a:p>
            <a:pPr marL="342900" marR="0" lvl="0" indent="-342900" algn="l" rtl="0">
              <a:spcBef>
                <a:spcPts val="560"/>
              </a:spcBef>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Shape 281"/>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Trojan Horses</a:t>
            </a:r>
          </a:p>
        </p:txBody>
      </p:sp>
      <p:sp>
        <p:nvSpPr>
          <p:cNvPr id="282" name="Shape 282"/>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Trojan horses offer a little “something extra” with what looks to be a useful utility, such as an online mortgage calculator or video/music file.</a:t>
            </a:r>
          </a:p>
          <a:p>
            <a:pPr marL="342900" marR="0" lvl="0" indent="-342900" algn="l" rtl="0">
              <a:spcBef>
                <a:spcPts val="56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When the program is run, the Trojan executes and runs in the background </a:t>
            </a:r>
          </a:p>
          <a:p>
            <a:pPr marL="342900" marR="0" lvl="0" indent="-342900" algn="l" rtl="0">
              <a:spcBef>
                <a:spcPts val="56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More than 40% of files on peer-to-peer sites were found to be infected with Trojan Horses – most with malicious spyware and keyloggers.</a:t>
            </a:r>
          </a:p>
          <a:p>
            <a:pPr marL="342900" marR="0" lvl="0" indent="-342900" algn="l" rtl="0">
              <a:spcBef>
                <a:spcPts val="560"/>
              </a:spcBef>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Shape 287"/>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A Word on Antivirus Software</a:t>
            </a:r>
          </a:p>
        </p:txBody>
      </p:sp>
      <p:sp>
        <p:nvSpPr>
          <p:cNvPr id="288" name="Shape 288"/>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Antivirus software attempts to detect and prevent malware infections by matching behavior to known malware </a:t>
            </a:r>
          </a:p>
          <a:p>
            <a:pPr marL="342900" marR="0" lvl="0" indent="-34290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Types: </a:t>
            </a:r>
          </a:p>
          <a:p>
            <a:pPr marL="742950" marR="0" lvl="1" indent="-285750" algn="l" rtl="0">
              <a:spcBef>
                <a:spcPts val="400"/>
              </a:spcBef>
              <a:spcAft>
                <a:spcPts val="0"/>
              </a:spcAft>
              <a:buClr>
                <a:srgbClr val="2955A6"/>
              </a:buClr>
              <a:buSzPct val="100000"/>
              <a:buFont typeface="Arial"/>
              <a:buChar char="–"/>
            </a:pPr>
            <a:r>
              <a:rPr lang="en-US" sz="2000" b="1" i="0" u="none" strike="noStrike" cap="none">
                <a:solidFill>
                  <a:srgbClr val="2955A6"/>
                </a:solidFill>
                <a:latin typeface="Calibri"/>
                <a:ea typeface="Calibri"/>
                <a:cs typeface="Calibri"/>
                <a:sym typeface="Calibri"/>
              </a:rPr>
              <a:t>Signature-based </a:t>
            </a:r>
            <a:r>
              <a:rPr lang="en-US" sz="2000" b="0" i="0" u="none" strike="noStrike" cap="none">
                <a:solidFill>
                  <a:srgbClr val="2955A6"/>
                </a:solidFill>
                <a:latin typeface="Calibri"/>
                <a:ea typeface="Calibri"/>
                <a:cs typeface="Calibri"/>
                <a:sym typeface="Calibri"/>
              </a:rPr>
              <a:t>– only as good as the latest signatures. Inspects file system, registry, service behavior for known characteristics. Doesn’t work as well with polymorphic or zero-day viruses </a:t>
            </a:r>
          </a:p>
          <a:p>
            <a:pPr marL="742950" marR="0" lvl="1" indent="-285750" algn="l" rtl="0">
              <a:spcBef>
                <a:spcPts val="400"/>
              </a:spcBef>
              <a:spcAft>
                <a:spcPts val="0"/>
              </a:spcAft>
              <a:buClr>
                <a:srgbClr val="2955A6"/>
              </a:buClr>
              <a:buSzPct val="100000"/>
              <a:buFont typeface="Arial"/>
              <a:buChar char="–"/>
            </a:pPr>
            <a:r>
              <a:rPr lang="en-US" sz="2000" b="1" i="0" u="none" strike="noStrike" cap="none">
                <a:solidFill>
                  <a:srgbClr val="2955A6"/>
                </a:solidFill>
                <a:latin typeface="Calibri"/>
                <a:ea typeface="Calibri"/>
                <a:cs typeface="Calibri"/>
                <a:sym typeface="Calibri"/>
              </a:rPr>
              <a:t>Heuristic </a:t>
            </a:r>
            <a:r>
              <a:rPr lang="en-US" sz="2000" b="0" i="0" u="none" strike="noStrike" cap="none">
                <a:solidFill>
                  <a:srgbClr val="2955A6"/>
                </a:solidFill>
                <a:latin typeface="Calibri"/>
                <a:ea typeface="Calibri"/>
                <a:cs typeface="Calibri"/>
                <a:sym typeface="Calibri"/>
              </a:rPr>
              <a:t>– analyzes overall structure of the code in context of the actual code </a:t>
            </a:r>
          </a:p>
          <a:p>
            <a:pPr marL="742950" marR="0" lvl="1" indent="-285750" algn="l" rtl="0">
              <a:spcBef>
                <a:spcPts val="400"/>
              </a:spcBef>
              <a:spcAft>
                <a:spcPts val="0"/>
              </a:spcAft>
              <a:buClr>
                <a:srgbClr val="2955A6"/>
              </a:buClr>
              <a:buSzPct val="100000"/>
              <a:buFont typeface="Arial"/>
              <a:buChar char="–"/>
            </a:pPr>
            <a:r>
              <a:rPr lang="en-US" sz="2000" b="1" i="0" u="none" strike="noStrike" cap="none">
                <a:solidFill>
                  <a:srgbClr val="2955A6"/>
                </a:solidFill>
                <a:latin typeface="Calibri"/>
                <a:ea typeface="Calibri"/>
                <a:cs typeface="Calibri"/>
                <a:sym typeface="Calibri"/>
              </a:rPr>
              <a:t>Virtual machine </a:t>
            </a:r>
            <a:r>
              <a:rPr lang="en-US" sz="2000" b="0" i="0" u="none" strike="noStrike" cap="none">
                <a:solidFill>
                  <a:srgbClr val="2955A6"/>
                </a:solidFill>
                <a:latin typeface="Calibri"/>
                <a:ea typeface="Calibri"/>
                <a:cs typeface="Calibri"/>
                <a:sym typeface="Calibri"/>
              </a:rPr>
              <a:t>– isolates code in a sandbox, of sorts, to test its behavior before allowing it to access the system. Uses dynamic analysis, whereas others use static analysis to analyze code </a:t>
            </a:r>
          </a:p>
          <a:p>
            <a:pPr marL="342900" marR="0" lvl="0" indent="-342900" algn="l" rtl="0">
              <a:spcBef>
                <a:spcPts val="560"/>
              </a:spcBef>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Shape 293"/>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Ransomware</a:t>
            </a:r>
          </a:p>
        </p:txBody>
      </p:sp>
      <p:sp>
        <p:nvSpPr>
          <p:cNvPr id="294" name="Shape 294"/>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dirty="0">
                <a:solidFill>
                  <a:srgbClr val="2955A6"/>
                </a:solidFill>
                <a:latin typeface="Calibri"/>
                <a:ea typeface="Calibri"/>
                <a:cs typeface="Calibri"/>
                <a:sym typeface="Calibri"/>
              </a:rPr>
              <a:t>Ransomware is malicious software that disables the user’s access to the data until an extortion (ransom) is paid to the attacker  - usually in bitcoin.</a:t>
            </a:r>
          </a:p>
          <a:p>
            <a:pPr marL="342900" marR="0" lvl="0" indent="-342900" algn="l" rtl="0">
              <a:spcBef>
                <a:spcPts val="480"/>
              </a:spcBef>
              <a:spcAft>
                <a:spcPts val="0"/>
              </a:spcAft>
              <a:buClr>
                <a:srgbClr val="2955A6"/>
              </a:buClr>
              <a:buSzPct val="100000"/>
              <a:buFont typeface="Arial"/>
              <a:buChar char="•"/>
            </a:pPr>
            <a:r>
              <a:rPr lang="en-US" sz="2400" b="0" i="0" u="none" strike="noStrike" cap="none" dirty="0">
                <a:solidFill>
                  <a:srgbClr val="2955A6"/>
                </a:solidFill>
                <a:latin typeface="Calibri"/>
                <a:ea typeface="Calibri"/>
                <a:cs typeface="Calibri"/>
                <a:sym typeface="Calibri"/>
              </a:rPr>
              <a:t>Most ransomware encrypts all files on the drive such that the user must purchase the key to decrypt the files.</a:t>
            </a:r>
          </a:p>
          <a:p>
            <a:pPr marL="342900" marR="0" lvl="0" indent="-342900" algn="l" rtl="0">
              <a:spcBef>
                <a:spcPts val="480"/>
              </a:spcBef>
              <a:spcAft>
                <a:spcPts val="0"/>
              </a:spcAft>
              <a:buClr>
                <a:srgbClr val="2955A6"/>
              </a:buClr>
              <a:buSzPct val="100000"/>
              <a:buFont typeface="Arial"/>
              <a:buChar char="•"/>
            </a:pPr>
            <a:r>
              <a:rPr lang="en-US" sz="2400" b="0" i="0" u="none" strike="noStrike" cap="none" dirty="0">
                <a:solidFill>
                  <a:srgbClr val="2955A6"/>
                </a:solidFill>
                <a:latin typeface="Calibri"/>
                <a:ea typeface="Calibri"/>
                <a:cs typeface="Calibri"/>
                <a:sym typeface="Calibri"/>
              </a:rPr>
              <a:t>A </a:t>
            </a:r>
            <a:r>
              <a:rPr lang="en-US" sz="2400" b="0" i="0" u="none" strike="noStrike" cap="none" dirty="0">
                <a:solidFill>
                  <a:srgbClr val="2955A6"/>
                </a:solidFill>
                <a:latin typeface="Calibri"/>
                <a:ea typeface="Calibri"/>
                <a:cs typeface="Calibri"/>
                <a:sym typeface="Calibri"/>
                <a:hlinkClick r:id="rId3"/>
              </a:rPr>
              <a:t>2025 Report </a:t>
            </a:r>
            <a:r>
              <a:rPr lang="en-US" sz="2400" b="0" i="0" u="none" strike="noStrike" cap="none" dirty="0">
                <a:solidFill>
                  <a:srgbClr val="2955A6"/>
                </a:solidFill>
                <a:latin typeface="Calibri"/>
                <a:ea typeface="Calibri"/>
                <a:cs typeface="Calibri"/>
                <a:sym typeface="Calibri"/>
              </a:rPr>
              <a:t>cites a 32% increase in reported attacks over 2024, as well as the average ransom demand more than doubling to nearly $1.2 million in 2025.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Shape 299"/>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Malware Remediation</a:t>
            </a:r>
          </a:p>
        </p:txBody>
      </p:sp>
      <p:sp>
        <p:nvSpPr>
          <p:cNvPr id="300" name="Shape 300"/>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dirty="0">
                <a:solidFill>
                  <a:srgbClr val="2955A6"/>
                </a:solidFill>
                <a:latin typeface="Calibri"/>
                <a:ea typeface="Calibri"/>
                <a:cs typeface="Calibri"/>
                <a:sym typeface="Calibri"/>
              </a:rPr>
              <a:t>Anti-virus software remains one of the most effective malware controls.  It is only as effective, however, as its last update, as almost 1 million pieces of malware are created each day. </a:t>
            </a:r>
          </a:p>
          <a:p>
            <a:pPr marL="342900" marR="0" lvl="0" indent="-342900" algn="l" rtl="0">
              <a:spcBef>
                <a:spcPts val="480"/>
              </a:spcBef>
              <a:spcAft>
                <a:spcPts val="0"/>
              </a:spcAft>
              <a:buClr>
                <a:srgbClr val="2955A6"/>
              </a:buClr>
              <a:buSzPct val="100000"/>
              <a:buFont typeface="Arial"/>
              <a:buChar char="•"/>
            </a:pPr>
            <a:r>
              <a:rPr lang="en-US" sz="2400" b="0" i="0" u="none" strike="noStrike" cap="none" dirty="0">
                <a:solidFill>
                  <a:srgbClr val="2955A6"/>
                </a:solidFill>
                <a:latin typeface="Calibri"/>
                <a:ea typeface="Calibri"/>
                <a:cs typeface="Calibri"/>
                <a:sym typeface="Calibri"/>
              </a:rPr>
              <a:t>Enable pop-up blockers.</a:t>
            </a:r>
          </a:p>
          <a:p>
            <a:pPr marL="342900" marR="0" lvl="0" indent="-342900" algn="l" rtl="0">
              <a:spcBef>
                <a:spcPts val="480"/>
              </a:spcBef>
              <a:spcAft>
                <a:spcPts val="0"/>
              </a:spcAft>
              <a:buClr>
                <a:srgbClr val="2955A6"/>
              </a:buClr>
              <a:buSzPct val="100000"/>
              <a:buFont typeface="Arial"/>
              <a:buChar char="•"/>
            </a:pPr>
            <a:r>
              <a:rPr lang="en-US" sz="2400" b="0" i="0" u="none" strike="noStrike" cap="none" dirty="0">
                <a:solidFill>
                  <a:srgbClr val="2955A6"/>
                </a:solidFill>
                <a:latin typeface="Calibri"/>
                <a:ea typeface="Calibri"/>
                <a:cs typeface="Calibri"/>
                <a:sym typeface="Calibri"/>
              </a:rPr>
              <a:t>Backup all personal data to either a cloud solution or local external drive.</a:t>
            </a:r>
          </a:p>
          <a:p>
            <a:pPr marL="342900" marR="0" lvl="0" indent="-342900" algn="l" rtl="0">
              <a:spcBef>
                <a:spcPts val="480"/>
              </a:spcBef>
              <a:buClr>
                <a:srgbClr val="2955A6"/>
              </a:buClr>
              <a:buSzPct val="100000"/>
              <a:buFont typeface="Arial"/>
              <a:buChar char="•"/>
            </a:pPr>
            <a:r>
              <a:rPr lang="en-US" sz="2400" b="0" i="0" u="none" strike="noStrike" cap="none" dirty="0">
                <a:solidFill>
                  <a:srgbClr val="2955A6"/>
                </a:solidFill>
                <a:latin typeface="Calibri"/>
                <a:ea typeface="Calibri"/>
                <a:cs typeface="Calibri"/>
                <a:sym typeface="Calibri"/>
              </a:rPr>
              <a:t>Encrypt all sensitive data on the drive.</a:t>
            </a:r>
          </a:p>
          <a:p>
            <a:pPr marL="342900" marR="0" lvl="0" indent="-342900" algn="l" rtl="0">
              <a:spcBef>
                <a:spcPts val="480"/>
              </a:spcBef>
              <a:buClr>
                <a:srgbClr val="2955A6"/>
              </a:buClr>
              <a:buSzPct val="100000"/>
              <a:buFont typeface="Arial"/>
              <a:buChar char="•"/>
            </a:pPr>
            <a:r>
              <a:rPr lang="en-US" sz="2400" b="0" i="0" u="none" strike="noStrike" cap="none" dirty="0">
                <a:solidFill>
                  <a:srgbClr val="2955A6"/>
                </a:solidFill>
                <a:latin typeface="Calibri"/>
                <a:ea typeface="Calibri"/>
                <a:cs typeface="Calibri"/>
                <a:sym typeface="Calibri"/>
              </a:rPr>
              <a:t>Provide education for end users on identifying suspicious emails and other social engineering attacks.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Shape 305"/>
          <p:cNvSpPr txBox="1">
            <a:spLocks noGrp="1"/>
          </p:cNvSpPr>
          <p:nvPr>
            <p:ph type="ctr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3600" b="0" i="0" u="none" strike="noStrike" cap="none">
                <a:solidFill>
                  <a:srgbClr val="2955A6"/>
                </a:solidFill>
                <a:latin typeface="Calibri"/>
                <a:ea typeface="Calibri"/>
                <a:cs typeface="Calibri"/>
                <a:sym typeface="Calibri"/>
              </a:rPr>
              <a:t>Web-Based Application Attacks</a:t>
            </a:r>
          </a:p>
        </p:txBody>
      </p:sp>
      <p:sp>
        <p:nvSpPr>
          <p:cNvPr id="306" name="Shape 306"/>
          <p:cNvSpPr txBox="1">
            <a:spLocks noGrp="1"/>
          </p:cNvSpPr>
          <p:nvPr>
            <p:ph type="body" sz="quarter" idx="13"/>
          </p:nvPr>
        </p:nvSpPr>
        <p:spPr>
          <a:prstGeom prst="rect">
            <a:avLst/>
          </a:prstGeom>
          <a:noFill/>
          <a:ln>
            <a:noFill/>
          </a:ln>
        </p:spPr>
        <p:txBody>
          <a:bodyPr lIns="91425" tIns="45700" rIns="91425" bIns="45700" anchor="t" anchorCtr="0">
            <a:noAutofit/>
          </a:bodyPr>
          <a:lstStyle/>
          <a:p>
            <a:pPr marL="0" marR="0" lvl="0" indent="0" algn="ctr" rtl="0">
              <a:spcBef>
                <a:spcPts val="0"/>
              </a:spcBef>
              <a:buClr>
                <a:srgbClr val="2955A6"/>
              </a:buClr>
              <a:buSzPct val="25000"/>
              <a:buFont typeface="Arial"/>
              <a:buNone/>
            </a:pPr>
            <a:r>
              <a:rPr lang="en-US" sz="3200" b="0" i="0" u="none" strike="noStrike" cap="none" dirty="0">
                <a:solidFill>
                  <a:srgbClr val="2955A6"/>
                </a:solidFill>
                <a:latin typeface="Calibri"/>
                <a:ea typeface="Calibri"/>
                <a:cs typeface="Calibri"/>
                <a:sym typeface="Calibri"/>
              </a:rPr>
              <a:t>Offensive Vocabulary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Shape 311"/>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OWASP Top 10 Attacks</a:t>
            </a:r>
          </a:p>
        </p:txBody>
      </p:sp>
      <p:sp>
        <p:nvSpPr>
          <p:cNvPr id="312" name="Shape 312"/>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The Open Web Application Security Project (OWASP) at </a:t>
            </a:r>
            <a:r>
              <a:rPr lang="en-US" sz="2800" b="0" i="0" u="sng" strike="noStrike" cap="none">
                <a:solidFill>
                  <a:schemeClr val="hlink"/>
                </a:solidFill>
                <a:latin typeface="Calibri"/>
                <a:ea typeface="Calibri"/>
                <a:cs typeface="Calibri"/>
                <a:sym typeface="Calibri"/>
                <a:hlinkClick r:id="rId3"/>
              </a:rPr>
              <a:t>www.owasp.org</a:t>
            </a:r>
            <a:r>
              <a:rPr lang="en-US" sz="2800" b="0" i="0" u="none" strike="noStrike" cap="none">
                <a:solidFill>
                  <a:srgbClr val="2955A6"/>
                </a:solidFill>
                <a:latin typeface="Calibri"/>
                <a:ea typeface="Calibri"/>
                <a:cs typeface="Calibri"/>
                <a:sym typeface="Calibri"/>
              </a:rPr>
              <a:t> provides periodic lists of the top 10 Most Critical Web Application Security Risks.</a:t>
            </a:r>
          </a:p>
          <a:p>
            <a:pPr marL="342900" marR="0" lvl="0" indent="-342900" algn="l" rtl="0">
              <a:spcBef>
                <a:spcPts val="56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Among these attacks, several make the list each time the list is updated, including the following that will be examined in this module:</a:t>
            </a:r>
          </a:p>
          <a:p>
            <a:pPr marL="742950" marR="0" lvl="1" indent="-28575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Injection attacks</a:t>
            </a:r>
          </a:p>
          <a:p>
            <a:pPr marL="742950" marR="0" lvl="1" indent="-28575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Broken Authentication and Session Management attacks</a:t>
            </a:r>
          </a:p>
          <a:p>
            <a:pPr marL="742950" marR="0" lvl="1" indent="-285750" algn="l" rtl="0">
              <a:spcBef>
                <a:spcPts val="480"/>
              </a:spcBef>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Cross-Site Scripting attacks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Shape 317"/>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Injection Attacks</a:t>
            </a:r>
          </a:p>
        </p:txBody>
      </p:sp>
      <p:sp>
        <p:nvSpPr>
          <p:cNvPr id="318" name="Shape 318"/>
          <p:cNvSpPr txBox="1">
            <a:spLocks noGrp="1"/>
          </p:cNvSpPr>
          <p:nvPr>
            <p:ph idx="1"/>
          </p:nvPr>
        </p:nvSpPr>
        <p:spPr>
          <a:xfrm>
            <a:off x="457200" y="2438400"/>
            <a:ext cx="8229600" cy="3771900"/>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dirty="0">
                <a:solidFill>
                  <a:srgbClr val="2955A6"/>
                </a:solidFill>
                <a:latin typeface="Calibri"/>
                <a:ea typeface="Calibri"/>
                <a:cs typeface="Calibri"/>
                <a:sym typeface="Calibri"/>
              </a:rPr>
              <a:t>Injection attacks occur when applications provide for untrusted input from a user, through a web application interface to a database, allowing the attacker to send commands that are executed at the database server, providing the attacker with access or the ability to delete/modify information.</a:t>
            </a:r>
          </a:p>
          <a:p>
            <a:pPr marL="342900" marR="0" lvl="0" indent="-342900" algn="l" rtl="0">
              <a:spcBef>
                <a:spcPts val="480"/>
              </a:spcBef>
              <a:buClr>
                <a:srgbClr val="2955A6"/>
              </a:buClr>
              <a:buSzPct val="100000"/>
              <a:buFont typeface="Arial"/>
              <a:buChar char="•"/>
            </a:pPr>
            <a:r>
              <a:rPr lang="en-US" sz="2400" b="0" i="0" u="none" strike="noStrike" cap="none" dirty="0">
                <a:solidFill>
                  <a:srgbClr val="2955A6"/>
                </a:solidFill>
                <a:latin typeface="Calibri"/>
                <a:ea typeface="Calibri"/>
                <a:cs typeface="Calibri"/>
                <a:sym typeface="Calibri"/>
              </a:rPr>
              <a:t>The most common of these attacks is SQL Injection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Shape 323"/>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SQL Injection</a:t>
            </a:r>
          </a:p>
        </p:txBody>
      </p:sp>
      <p:sp>
        <p:nvSpPr>
          <p:cNvPr id="324" name="Shape 324"/>
          <p:cNvSpPr txBox="1">
            <a:spLocks noGrp="1"/>
          </p:cNvSpPr>
          <p:nvPr>
            <p:ph idx="1"/>
          </p:nvPr>
        </p:nvSpPr>
        <p:spPr>
          <a:xfrm>
            <a:off x="457200" y="2133600"/>
            <a:ext cx="8229600" cy="3771900"/>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 SQL commands can be injected at the login screens, using user input, inserted into cookies, through machine variables that are then processed at the server.</a:t>
            </a:r>
          </a:p>
          <a:p>
            <a:pPr marL="342900" marR="0" lvl="0" indent="-342900" algn="l" rtl="0">
              <a:spcBef>
                <a:spcPts val="56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The vulnerability that enables the attack occurs when developers do not properly validate user input, for instance, validating it “client side” in the browser, rather than at the server, before passing it to the database server from processing.</a:t>
            </a:r>
          </a:p>
          <a:p>
            <a:pPr marL="342900" marR="0" lvl="0" indent="-342900" algn="l" rtl="0">
              <a:spcBef>
                <a:spcPts val="560"/>
              </a:spcBef>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Shape 329"/>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3600" b="0" i="0" u="none" strike="noStrike" cap="none">
                <a:solidFill>
                  <a:srgbClr val="2955A6"/>
                </a:solidFill>
                <a:latin typeface="Calibri"/>
                <a:ea typeface="Calibri"/>
                <a:cs typeface="Calibri"/>
                <a:sym typeface="Calibri"/>
              </a:rPr>
              <a:t>Broken Authentication and Session Management Attacks</a:t>
            </a:r>
          </a:p>
        </p:txBody>
      </p:sp>
      <p:sp>
        <p:nvSpPr>
          <p:cNvPr id="330" name="Shape 330"/>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In a Broken Authentication and Session Management attack, attackers attack poorly developed (weak) or managed (improperly stored) authentication credentials or session management IDs. </a:t>
            </a:r>
          </a:p>
          <a:p>
            <a:pPr marL="342900" marR="0" lvl="0" indent="-342900" algn="l" rtl="0">
              <a:spcBef>
                <a:spcPts val="560"/>
              </a:spcBef>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As an example, a poorly designed Web application might pass session IDs to the server in the URLs, where they are visible.  If the URL is distributed to an attacker, the attacker can use the session ID to assume that user’s session at the server.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Shape 335"/>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Cross-Site Scripting Attacks</a:t>
            </a:r>
          </a:p>
        </p:txBody>
      </p:sp>
      <p:sp>
        <p:nvSpPr>
          <p:cNvPr id="336" name="Shape 336"/>
          <p:cNvSpPr txBox="1">
            <a:spLocks noGrp="1"/>
          </p:cNvSpPr>
          <p:nvPr>
            <p:ph idx="1"/>
          </p:nvPr>
        </p:nvSpPr>
        <p:spPr>
          <a:xfrm>
            <a:off x="381000" y="2095500"/>
            <a:ext cx="8229600" cy="3771900"/>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Cross-Site Scripting (XSS) attacks are among some of the most prevalent attacks against Web applications and occur when malicious scripts are injected into a victim’s Web site. This, then, attacks users visiting the infected site.</a:t>
            </a:r>
          </a:p>
          <a:p>
            <a:pPr marL="342900" marR="0" lvl="0" indent="-34290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Two different types:</a:t>
            </a:r>
          </a:p>
          <a:p>
            <a:pPr marL="742950" marR="0" lvl="1" indent="-285750" algn="l" rtl="0">
              <a:spcBef>
                <a:spcPts val="400"/>
              </a:spcBef>
              <a:spcAft>
                <a:spcPts val="0"/>
              </a:spcAft>
              <a:buClr>
                <a:srgbClr val="2955A6"/>
              </a:buClr>
              <a:buSzPct val="100000"/>
              <a:buFont typeface="Arial"/>
              <a:buChar char="–"/>
            </a:pPr>
            <a:r>
              <a:rPr lang="en-US" sz="2000" b="1" i="0" u="none" strike="noStrike" cap="none">
                <a:solidFill>
                  <a:srgbClr val="2955A6"/>
                </a:solidFill>
                <a:latin typeface="Calibri"/>
                <a:ea typeface="Calibri"/>
                <a:cs typeface="Calibri"/>
                <a:sym typeface="Calibri"/>
              </a:rPr>
              <a:t>Stored</a:t>
            </a:r>
            <a:r>
              <a:rPr lang="en-US" sz="2000" b="0" i="0" u="none" strike="noStrike" cap="none">
                <a:solidFill>
                  <a:srgbClr val="2955A6"/>
                </a:solidFill>
                <a:latin typeface="Calibri"/>
                <a:ea typeface="Calibri"/>
                <a:cs typeface="Calibri"/>
                <a:sym typeface="Calibri"/>
              </a:rPr>
              <a:t> (persistent) – Malicious scripts are permanently stored on the server, sometimes in forums, visitor logs, etc.</a:t>
            </a:r>
          </a:p>
          <a:p>
            <a:pPr marL="742950" marR="0" lvl="1" indent="-285750" algn="l" rtl="0">
              <a:spcBef>
                <a:spcPts val="400"/>
              </a:spcBef>
              <a:buClr>
                <a:srgbClr val="2955A6"/>
              </a:buClr>
              <a:buSzPct val="100000"/>
              <a:buFont typeface="Arial"/>
              <a:buChar char="–"/>
            </a:pPr>
            <a:r>
              <a:rPr lang="en-US" sz="2000" b="1" i="0" u="none" strike="noStrike" cap="none">
                <a:solidFill>
                  <a:srgbClr val="2955A6"/>
                </a:solidFill>
                <a:latin typeface="Calibri"/>
                <a:ea typeface="Calibri"/>
                <a:cs typeface="Calibri"/>
                <a:sym typeface="Calibri"/>
              </a:rPr>
              <a:t>Reflected</a:t>
            </a:r>
            <a:r>
              <a:rPr lang="en-US" sz="2000" b="0" i="0" u="none" strike="noStrike" cap="none">
                <a:solidFill>
                  <a:srgbClr val="2955A6"/>
                </a:solidFill>
                <a:latin typeface="Calibri"/>
                <a:ea typeface="Calibri"/>
                <a:cs typeface="Calibri"/>
                <a:sym typeface="Calibri"/>
              </a:rPr>
              <a:t> (non-persistent) – Most frequent type, occurring when the attacker injects malicious script (e.g. JavaScript) into input sent to the server that is then reflected from the server back to the user in its HTTP response. Users might click on a malicious link sent to them in an email , as an example.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Shape 341"/>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Remediating Web Application Risks</a:t>
            </a:r>
          </a:p>
        </p:txBody>
      </p:sp>
      <p:sp>
        <p:nvSpPr>
          <p:cNvPr id="342" name="Shape 342"/>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All input to a web server should be validated at the server. </a:t>
            </a:r>
          </a:p>
          <a:p>
            <a:pPr marL="342900" marR="0" lvl="0" indent="-34290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Use parametrized queries, or drop-down menus, wherever possible to minimize user input.</a:t>
            </a:r>
          </a:p>
          <a:p>
            <a:pPr marL="342900" marR="0" lvl="0" indent="-34290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Train users to not click on links in emails.</a:t>
            </a:r>
          </a:p>
          <a:p>
            <a:pPr marL="342900" marR="0" lvl="0" indent="-34290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Do not store passwords in plain text at the server. Ensure that passwords use hashing algorithms that “salt” the stored result (using a pseudo-random injection of characters into the hash).</a:t>
            </a:r>
          </a:p>
          <a:p>
            <a:pPr marL="342900" marR="0" lvl="0" indent="-342900" algn="l" rtl="0">
              <a:spcBef>
                <a:spcPts val="560"/>
              </a:spcBef>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Shape 347"/>
          <p:cNvSpPr txBox="1">
            <a:spLocks noGrp="1"/>
          </p:cNvSpPr>
          <p:nvPr>
            <p:ph type="ctr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Phishing</a:t>
            </a:r>
          </a:p>
        </p:txBody>
      </p:sp>
      <p:sp>
        <p:nvSpPr>
          <p:cNvPr id="348" name="Shape 348"/>
          <p:cNvSpPr txBox="1">
            <a:spLocks noGrp="1"/>
          </p:cNvSpPr>
          <p:nvPr>
            <p:ph type="body" sz="quarter" idx="13"/>
          </p:nvPr>
        </p:nvSpPr>
        <p:spPr>
          <a:prstGeom prst="rect">
            <a:avLst/>
          </a:prstGeom>
          <a:noFill/>
          <a:ln>
            <a:noFill/>
          </a:ln>
        </p:spPr>
        <p:txBody>
          <a:bodyPr lIns="91425" tIns="45700" rIns="91425" bIns="45700" anchor="t" anchorCtr="0">
            <a:noAutofit/>
          </a:bodyPr>
          <a:lstStyle/>
          <a:p>
            <a:pPr marL="0" marR="0" lvl="0" indent="0" algn="ctr" rtl="0">
              <a:spcBef>
                <a:spcPts val="0"/>
              </a:spcBef>
              <a:buClr>
                <a:srgbClr val="2955A6"/>
              </a:buClr>
              <a:buSzPct val="25000"/>
              <a:buFont typeface="Arial"/>
              <a:buNone/>
            </a:pPr>
            <a:r>
              <a:rPr lang="en-US" sz="3200" b="0" i="0" u="none" strike="noStrike" cap="none" dirty="0">
                <a:solidFill>
                  <a:srgbClr val="2955A6"/>
                </a:solidFill>
                <a:latin typeface="Calibri"/>
                <a:ea typeface="Calibri"/>
                <a:cs typeface="Calibri"/>
                <a:sym typeface="Calibri"/>
              </a:rPr>
              <a:t>Offensive Vocabulary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Shape 353"/>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Phishing</a:t>
            </a:r>
          </a:p>
        </p:txBody>
      </p:sp>
      <p:sp>
        <p:nvSpPr>
          <p:cNvPr id="354" name="Shape 354"/>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Phishing is a social engineering technique where unsuspecting users are tricked into clicking on a link in an email in an attempt to gain the individual’s user id and password, credit card information, or other sensitive information.</a:t>
            </a:r>
          </a:p>
          <a:p>
            <a:pPr marL="342900" marR="0" lvl="0" indent="-34290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Often these emails are sent from a seemingly trusted site that has been “spoofed”, such as a bank or common trusted service (e.g. Amazon).</a:t>
            </a:r>
          </a:p>
          <a:p>
            <a:pPr marL="342900" marR="0" lvl="0" indent="-342900" algn="l" rtl="0">
              <a:spcBef>
                <a:spcPts val="400"/>
              </a:spcBef>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Many use a sense of urgency, or create panic, by leading the user to believe their financial information has been compromised and they must immediately change their passwords.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Shape 359"/>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Types of Phishing</a:t>
            </a:r>
          </a:p>
        </p:txBody>
      </p:sp>
      <p:sp>
        <p:nvSpPr>
          <p:cNvPr id="360" name="Shape 360"/>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1" i="0" u="none" strike="noStrike" cap="none" dirty="0" err="1">
                <a:solidFill>
                  <a:srgbClr val="2955A6"/>
                </a:solidFill>
                <a:latin typeface="Calibri"/>
                <a:ea typeface="Calibri"/>
                <a:cs typeface="Calibri"/>
                <a:sym typeface="Calibri"/>
              </a:rPr>
              <a:t>Spearphishing</a:t>
            </a:r>
            <a:r>
              <a:rPr lang="en-US" sz="2400" b="0" i="0" u="none" strike="noStrike" cap="none" dirty="0">
                <a:solidFill>
                  <a:srgbClr val="2955A6"/>
                </a:solidFill>
                <a:latin typeface="Calibri"/>
                <a:ea typeface="Calibri"/>
                <a:cs typeface="Calibri"/>
                <a:sym typeface="Calibri"/>
              </a:rPr>
              <a:t> – target phishing attacks. As an example, spoofing emails as coming from a college IT Help Desk to students and faculty.</a:t>
            </a:r>
          </a:p>
          <a:p>
            <a:pPr marL="342900" marR="0" lvl="0" indent="-342900" algn="l" rtl="0">
              <a:spcBef>
                <a:spcPts val="480"/>
              </a:spcBef>
              <a:spcAft>
                <a:spcPts val="0"/>
              </a:spcAft>
              <a:buClr>
                <a:srgbClr val="2955A6"/>
              </a:buClr>
              <a:buSzPct val="100000"/>
              <a:buFont typeface="Arial"/>
              <a:buChar char="•"/>
            </a:pPr>
            <a:r>
              <a:rPr lang="en-US" sz="2400" b="1" i="0" u="none" strike="noStrike" cap="none" dirty="0">
                <a:solidFill>
                  <a:srgbClr val="2955A6"/>
                </a:solidFill>
                <a:latin typeface="Calibri"/>
                <a:ea typeface="Calibri"/>
                <a:cs typeface="Calibri"/>
                <a:sym typeface="Calibri"/>
              </a:rPr>
              <a:t>Whaling</a:t>
            </a:r>
            <a:r>
              <a:rPr lang="en-US" sz="2400" b="0" i="0" u="none" strike="noStrike" cap="none" dirty="0">
                <a:solidFill>
                  <a:srgbClr val="2955A6"/>
                </a:solidFill>
                <a:latin typeface="Calibri"/>
                <a:ea typeface="Calibri"/>
                <a:cs typeface="Calibri"/>
                <a:sym typeface="Calibri"/>
              </a:rPr>
              <a:t> – phishing targeted to financially “high gain” targets, such as C-Suite (CIO, CISO, CEO) employees.  This requires more research, for instance, coming from a common club at which they golf or lunch.</a:t>
            </a:r>
          </a:p>
          <a:p>
            <a:pPr marL="342900" marR="0" lvl="0" indent="-342900" algn="l" rtl="0">
              <a:spcBef>
                <a:spcPts val="480"/>
              </a:spcBef>
              <a:spcAft>
                <a:spcPts val="0"/>
              </a:spcAft>
              <a:buClr>
                <a:srgbClr val="2955A6"/>
              </a:buClr>
              <a:buSzPct val="100000"/>
              <a:buFont typeface="Arial"/>
              <a:buChar char="•"/>
            </a:pPr>
            <a:r>
              <a:rPr lang="en-US" sz="2400" b="1" i="0" u="none" strike="noStrike" cap="none" dirty="0">
                <a:solidFill>
                  <a:srgbClr val="2955A6"/>
                </a:solidFill>
                <a:latin typeface="Calibri"/>
                <a:ea typeface="Calibri"/>
                <a:cs typeface="Calibri"/>
                <a:sym typeface="Calibri"/>
              </a:rPr>
              <a:t>Vishing</a:t>
            </a:r>
            <a:r>
              <a:rPr lang="en-US" sz="2400" b="0" i="0" u="none" strike="noStrike" cap="none" dirty="0">
                <a:solidFill>
                  <a:srgbClr val="2955A6"/>
                </a:solidFill>
                <a:latin typeface="Calibri"/>
                <a:ea typeface="Calibri"/>
                <a:cs typeface="Calibri"/>
                <a:sym typeface="Calibri"/>
              </a:rPr>
              <a:t>, or VoIP phishing – fraudulent phone calls, for instance from Microsoft tech support or the IRS, that trick the user into providing sensitive information, such as SSNs or credit card numbers.</a:t>
            </a:r>
          </a:p>
          <a:p>
            <a:pPr marL="342900" marR="0" lvl="0" indent="-342900" algn="l" rtl="0">
              <a:spcBef>
                <a:spcPts val="560"/>
              </a:spcBef>
              <a:buClr>
                <a:srgbClr val="2955A6"/>
              </a:buClr>
              <a:buSzPct val="100000"/>
              <a:buFont typeface="Arial"/>
              <a:buNone/>
            </a:pPr>
            <a:endParaRPr sz="2800" b="0" i="0" u="none" strike="noStrike" cap="none" dirty="0">
              <a:solidFill>
                <a:srgbClr val="2955A6"/>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Shape 365"/>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Phishing Remediation	</a:t>
            </a:r>
          </a:p>
        </p:txBody>
      </p:sp>
      <p:sp>
        <p:nvSpPr>
          <p:cNvPr id="366" name="Shape 366"/>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Enable the use of blacklisting or whitelisting filters at the email server.</a:t>
            </a:r>
          </a:p>
          <a:p>
            <a:pPr marL="342900" marR="0" lvl="0" indent="-34290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As most phishing emails are sent from spoofed sites, resolve email headers. This places a lot of overhead on a server and so is not done to any great extent.</a:t>
            </a:r>
          </a:p>
          <a:p>
            <a:pPr marL="342900" marR="0" lvl="0" indent="-34290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Enable spam filters.</a:t>
            </a:r>
          </a:p>
          <a:p>
            <a:pPr marL="342900" marR="0" lvl="0" indent="-342900" algn="l" rtl="0">
              <a:spcBef>
                <a:spcPts val="480"/>
              </a:spcBef>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Phishing is a social engineering attack and, while there are some technical controls available, awareness training is the most effective control against it.</a:t>
            </a:r>
          </a:p>
        </p:txBody>
      </p:sp>
    </p:spTree>
  </p:cSld>
  <p:clrMapOvr>
    <a:masterClrMapping/>
  </p:clrMapOvr>
</p:sld>
</file>

<file path=ppt/theme/theme1.xml><?xml version="1.0" encoding="utf-8"?>
<a:theme xmlns:a="http://schemas.openxmlformats.org/drawingml/2006/main" name="PP_C5Modules_CC_License_standard">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7F34F36C-3DAE-4569-B5F7-837ED24F7713}" vid="{36867949-B10A-43A8-9E43-8DE4B3DD7460}"/>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C5 ppt template accessible standard</Template>
  <TotalTime>28</TotalTime>
  <Words>2122</Words>
  <Application>Microsoft Office PowerPoint</Application>
  <PresentationFormat>On-screen Show (4:3)</PresentationFormat>
  <Paragraphs>106</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PP_C5Modules_CC_License_standard</vt:lpstr>
      <vt:lpstr>Viruses</vt:lpstr>
      <vt:lpstr>Malware</vt:lpstr>
      <vt:lpstr>Malware Characteristics</vt:lpstr>
      <vt:lpstr>Worms and Viruses </vt:lpstr>
      <vt:lpstr>Worms and Viruses </vt:lpstr>
      <vt:lpstr>Logic Bombs</vt:lpstr>
      <vt:lpstr>Trojan Horses</vt:lpstr>
      <vt:lpstr>A Word on Antivirus Software</vt:lpstr>
      <vt:lpstr>Ransomware</vt:lpstr>
      <vt:lpstr>Malware Remediation</vt:lpstr>
      <vt:lpstr>Web-Based Application Attacks</vt:lpstr>
      <vt:lpstr>OWASP Top 10 Attacks</vt:lpstr>
      <vt:lpstr>Injection Attacks</vt:lpstr>
      <vt:lpstr>SQL Injection</vt:lpstr>
      <vt:lpstr>Broken Authentication and Session Management Attacks</vt:lpstr>
      <vt:lpstr>Cross-Site Scripting Attacks</vt:lpstr>
      <vt:lpstr>Remediating Web Application Risks</vt:lpstr>
      <vt:lpstr>Phishing</vt:lpstr>
      <vt:lpstr>Phishing</vt:lpstr>
      <vt:lpstr>Types of Phishing</vt:lpstr>
      <vt:lpstr>Phishing Remediation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Cybersecurity Threats and Countermeasures</dc:title>
  <dc:creator>Christine Hosler</dc:creator>
  <cp:lastModifiedBy>Sarah M Diesburg</cp:lastModifiedBy>
  <cp:revision>7</cp:revision>
  <dcterms:modified xsi:type="dcterms:W3CDTF">2026-01-19T18:37:31Z</dcterms:modified>
</cp:coreProperties>
</file>